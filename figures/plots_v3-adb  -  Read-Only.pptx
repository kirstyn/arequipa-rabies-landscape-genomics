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3" r:id="rId9"/>
    <p:sldId id="266" r:id="rId10"/>
    <p:sldId id="267" r:id="rId11"/>
    <p:sldId id="268" r:id="rId1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FF"/>
    <a:srgbClr val="020227"/>
    <a:srgbClr val="3131CC"/>
    <a:srgbClr val="030327"/>
    <a:srgbClr val="F2F2F2"/>
    <a:srgbClr val="FFFFFF"/>
    <a:srgbClr val="265317"/>
    <a:srgbClr val="EE3837"/>
    <a:srgbClr val="714AAC"/>
    <a:srgbClr val="4F9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8"/>
    <p:restoredTop sz="94658"/>
  </p:normalViewPr>
  <p:slideViewPr>
    <p:cSldViewPr snapToGrid="0">
      <p:cViewPr>
        <p:scale>
          <a:sx n="83" d="100"/>
          <a:sy n="83" d="100"/>
        </p:scale>
        <p:origin x="3048" y="-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9FFF0-851C-4A46-AEF5-BE2D704963A8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17A95-4FE8-EE49-B535-8C9EAD13D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76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117A95-4FE8-EE49-B535-8C9EAD13D2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14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117A95-4FE8-EE49-B535-8C9EAD13D2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17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117A95-4FE8-EE49-B535-8C9EAD13D2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00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442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30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3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62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6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65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96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57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84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85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DB12F-C883-7749-8D18-3D430D0F0DA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7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DB12F-C883-7749-8D18-3D430D0F0DA3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BD734-5288-3841-971D-8B9101154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27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C8536F-3231-4FA4-3C73-D31675B2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analyses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9DC73E-8E36-00CF-21A7-4E790B94A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Oversampled districts (n&gt;10) </a:t>
            </a:r>
            <a:r>
              <a:rPr lang="en-US" dirty="0" err="1"/>
              <a:t>downsampled</a:t>
            </a:r>
            <a:r>
              <a:rPr lang="en-US" dirty="0"/>
              <a:t> randomly</a:t>
            </a:r>
          </a:p>
          <a:p>
            <a:pPr lvl="1"/>
            <a:r>
              <a:rPr lang="en-US" dirty="0"/>
              <a:t>Keeping minimum of 100seq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833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5AFB7-3790-3430-1DC0-E6B7D58CF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" y="4167188"/>
            <a:ext cx="5491826" cy="313818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58C820-D546-08A8-0FC4-F55053D9D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332683"/>
              </p:ext>
            </p:extLst>
          </p:nvPr>
        </p:nvGraphicFramePr>
        <p:xfrm>
          <a:off x="5158702" y="4394458"/>
          <a:ext cx="1645721" cy="923785"/>
        </p:xfrm>
        <a:graphic>
          <a:graphicData uri="http://schemas.openxmlformats.org/drawingml/2006/table">
            <a:tbl>
              <a:tblPr/>
              <a:tblGrid>
                <a:gridCol w="822860">
                  <a:extLst>
                    <a:ext uri="{9D8B030D-6E8A-4147-A177-3AD203B41FA5}">
                      <a16:colId xmlns:a16="http://schemas.microsoft.com/office/drawing/2014/main" val="3605043647"/>
                    </a:ext>
                  </a:extLst>
                </a:gridCol>
                <a:gridCol w="822860">
                  <a:extLst>
                    <a:ext uri="{9D8B030D-6E8A-4147-A177-3AD203B41FA5}">
                      <a16:colId xmlns:a16="http://schemas.microsoft.com/office/drawing/2014/main" val="1741239572"/>
                    </a:ext>
                  </a:extLst>
                </a:gridCol>
              </a:tblGrid>
              <a:tr h="221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effectLst/>
                        </a:rPr>
                        <a:t>Transition</a:t>
                      </a:r>
                      <a:endParaRPr lang="en-US" sz="800">
                        <a:effectLst/>
                      </a:endParaRP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>
                          <a:effectLst/>
                        </a:rPr>
                        <a:t>Change</a:t>
                      </a:r>
                      <a:endParaRPr lang="en-US" sz="800">
                        <a:effectLst/>
                      </a:endParaRP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111008"/>
                  </a:ext>
                </a:extLst>
              </a:tr>
              <a:tr h="351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north → south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↓ ~5%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997343"/>
                  </a:ext>
                </a:extLst>
              </a:tr>
              <a:tr h="3510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south → north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effectLst/>
                        </a:rPr>
                        <a:t>↑ ~34%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65426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921A29-3E1D-8327-22DB-02A2936DBFA6}"/>
              </a:ext>
            </a:extLst>
          </p:cNvPr>
          <p:cNvSpPr txBox="1"/>
          <p:nvPr/>
        </p:nvSpPr>
        <p:spPr>
          <a:xfrm>
            <a:off x="5158702" y="6642182"/>
            <a:ext cx="1645721" cy="87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13" dirty="0"/>
              <a:t>Full:</a:t>
            </a:r>
          </a:p>
          <a:p>
            <a:pPr>
              <a:buNone/>
            </a:pPr>
            <a:r>
              <a:rPr lang="en-US" sz="1013" dirty="0"/>
              <a:t> ~3.0× stronger north → south </a:t>
            </a:r>
          </a:p>
          <a:p>
            <a:pPr>
              <a:buNone/>
            </a:pPr>
            <a:r>
              <a:rPr lang="en-US" sz="1013" dirty="0"/>
              <a:t>DS:</a:t>
            </a:r>
          </a:p>
          <a:p>
            <a:r>
              <a:rPr lang="en-US" sz="1013" dirty="0"/>
              <a:t>~2.1×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424BB8-E42D-C2EC-B3A5-5C09271F3D1C}"/>
              </a:ext>
            </a:extLst>
          </p:cNvPr>
          <p:cNvSpPr txBox="1"/>
          <p:nvPr/>
        </p:nvSpPr>
        <p:spPr>
          <a:xfrm>
            <a:off x="5158701" y="6019060"/>
            <a:ext cx="1342428" cy="87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13" b="1" dirty="0"/>
              <a:t>✔ still directional constraint</a:t>
            </a:r>
          </a:p>
          <a:p>
            <a:r>
              <a:rPr lang="en-US" sz="1013" dirty="0"/>
              <a:t>north → south consistently stronger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3F7678-9329-190A-7147-AC524B9BE0DB}"/>
              </a:ext>
            </a:extLst>
          </p:cNvPr>
          <p:cNvSpPr txBox="1"/>
          <p:nvPr/>
        </p:nvSpPr>
        <p:spPr>
          <a:xfrm>
            <a:off x="294612" y="7305374"/>
            <a:ext cx="3427914" cy="71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013" dirty="0"/>
              <a:t>Directionality exists (north → south ~3× → 2.1×)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13" dirty="0"/>
              <a:t>But asymmetry shrinks more under </a:t>
            </a:r>
            <a:r>
              <a:rPr lang="en-US" sz="1013" dirty="0" err="1"/>
              <a:t>downsampling</a:t>
            </a:r>
            <a:r>
              <a:rPr lang="en-US" sz="1013" dirty="0"/>
              <a:t> (~30% reduction)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13" dirty="0"/>
              <a:t>Weak direction becomes stronger when data are removed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212EA4-1422-7803-A78C-4DEC6CC7E6E5}"/>
              </a:ext>
            </a:extLst>
          </p:cNvPr>
          <p:cNvSpPr txBox="1"/>
          <p:nvPr/>
        </p:nvSpPr>
        <p:spPr>
          <a:xfrm>
            <a:off x="4054575" y="7642966"/>
            <a:ext cx="1822877" cy="24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13" b="1" dirty="0"/>
              <a:t>Partial/ episodic constraint</a:t>
            </a:r>
            <a:endParaRPr lang="en-US" sz="1013" dirty="0"/>
          </a:p>
        </p:txBody>
      </p:sp>
    </p:spTree>
    <p:extLst>
      <p:ext uri="{BB962C8B-B14F-4D97-AF65-F5344CB8AC3E}">
        <p14:creationId xmlns:p14="http://schemas.microsoft.com/office/powerpoint/2010/main" val="4120788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FAF090-80BC-4C19-7D1B-1BE2AC5EA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6" y="4421973"/>
            <a:ext cx="4410548" cy="25203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72C8C4-E8E7-A75A-28A7-65769C1481BD}"/>
              </a:ext>
            </a:extLst>
          </p:cNvPr>
          <p:cNvSpPr txBox="1"/>
          <p:nvPr/>
        </p:nvSpPr>
        <p:spPr>
          <a:xfrm>
            <a:off x="310044" y="4727605"/>
            <a:ext cx="875785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75" dirty="0"/>
              <a:t>Statistical support remains despite drop</a:t>
            </a:r>
          </a:p>
          <a:p>
            <a:r>
              <a:rPr lang="en-US" sz="675" dirty="0"/>
              <a:t>(decisive to v strong)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3700C83-98F2-B09D-83D4-045EE5AD9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115061"/>
              </p:ext>
            </p:extLst>
          </p:nvPr>
        </p:nvGraphicFramePr>
        <p:xfrm>
          <a:off x="4071344" y="4316125"/>
          <a:ext cx="1184202" cy="822960"/>
        </p:xfrm>
        <a:graphic>
          <a:graphicData uri="http://schemas.openxmlformats.org/drawingml/2006/table">
            <a:tbl>
              <a:tblPr/>
              <a:tblGrid>
                <a:gridCol w="592101">
                  <a:extLst>
                    <a:ext uri="{9D8B030D-6E8A-4147-A177-3AD203B41FA5}">
                      <a16:colId xmlns:a16="http://schemas.microsoft.com/office/drawing/2014/main" val="1131060342"/>
                    </a:ext>
                  </a:extLst>
                </a:gridCol>
                <a:gridCol w="592101">
                  <a:extLst>
                    <a:ext uri="{9D8B030D-6E8A-4147-A177-3AD203B41FA5}">
                      <a16:colId xmlns:a16="http://schemas.microsoft.com/office/drawing/2014/main" val="395546954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>
                          <a:effectLst/>
                        </a:rPr>
                        <a:t>Transition</a:t>
                      </a:r>
                      <a:endParaRPr lang="en-US" sz="600">
                        <a:effectLst/>
                      </a:endParaRP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 dirty="0">
                          <a:effectLst/>
                        </a:rPr>
                        <a:t>Relative change</a:t>
                      </a:r>
                      <a:endParaRPr lang="en-US" sz="600" dirty="0">
                        <a:effectLst/>
                      </a:endParaRP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43902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periurban → urban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↓ ~30%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9459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urban → periurban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effectLst/>
                        </a:rPr>
                        <a:t>↓ ~44%</a:t>
                      </a:r>
                    </a:p>
                  </a:txBody>
                  <a:tcPr marL="64294" marR="64294" marT="42863" marB="4286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91242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833917C-A78F-B12C-2E45-F0D6D75656A2}"/>
              </a:ext>
            </a:extLst>
          </p:cNvPr>
          <p:cNvSpPr txBox="1"/>
          <p:nvPr/>
        </p:nvSpPr>
        <p:spPr>
          <a:xfrm>
            <a:off x="193302" y="7022929"/>
            <a:ext cx="58186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/>
              <a:t>Downsampling</a:t>
            </a:r>
            <a:r>
              <a:rPr lang="en-US" sz="900" dirty="0"/>
              <a:t> reduces inferred movement intensity (30–45%) but preserves the overall directional structure of urban–</a:t>
            </a:r>
            <a:r>
              <a:rPr lang="en-US" sz="900" dirty="0" err="1"/>
              <a:t>periurban</a:t>
            </a:r>
            <a:r>
              <a:rPr lang="en-US" sz="900" dirty="0"/>
              <a:t> transitions</a:t>
            </a:r>
          </a:p>
          <a:p>
            <a:r>
              <a:rPr lang="en-US" sz="900" b="1" dirty="0"/>
              <a:t>Asymmetry pattern is robust, magnitude is moderately sensitive (primarily driven by Cerro Colorado?)</a:t>
            </a:r>
          </a:p>
          <a:p>
            <a:endParaRPr lang="en-US" sz="900" dirty="0"/>
          </a:p>
          <a:p>
            <a:endParaRPr lang="en-US" sz="900" dirty="0"/>
          </a:p>
          <a:p>
            <a:endParaRPr 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2556BD-FDDD-4EE9-1B14-EFC23E514BBE}"/>
              </a:ext>
            </a:extLst>
          </p:cNvPr>
          <p:cNvSpPr txBox="1"/>
          <p:nvPr/>
        </p:nvSpPr>
        <p:spPr>
          <a:xfrm>
            <a:off x="4158862" y="5912171"/>
            <a:ext cx="2473154" cy="87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13" dirty="0"/>
              <a:t>Full model</a:t>
            </a:r>
          </a:p>
          <a:p>
            <a:pPr>
              <a:buNone/>
            </a:pPr>
            <a:r>
              <a:rPr lang="en-US" sz="1013" dirty="0"/>
              <a:t>~3.7× stronger urban → </a:t>
            </a:r>
            <a:r>
              <a:rPr lang="en-US" sz="1013" dirty="0" err="1"/>
              <a:t>periurban</a:t>
            </a:r>
            <a:r>
              <a:rPr lang="en-US" sz="1013" dirty="0"/>
              <a:t> flow</a:t>
            </a:r>
          </a:p>
          <a:p>
            <a:pPr>
              <a:buNone/>
            </a:pPr>
            <a:r>
              <a:rPr lang="en-US" sz="1013" dirty="0"/>
              <a:t>DS</a:t>
            </a:r>
          </a:p>
          <a:p>
            <a:r>
              <a:rPr lang="en-US" sz="1013" dirty="0"/>
              <a:t>~3.0× stronger urban → </a:t>
            </a:r>
            <a:r>
              <a:rPr lang="en-US" sz="1013" dirty="0" err="1"/>
              <a:t>periurban</a:t>
            </a:r>
            <a:r>
              <a:rPr lang="en-US" sz="1013" dirty="0"/>
              <a:t> flow</a:t>
            </a:r>
          </a:p>
          <a:p>
            <a:pPr>
              <a:buNone/>
            </a:pPr>
            <a:endParaRPr lang="en-US" sz="1013" dirty="0"/>
          </a:p>
        </p:txBody>
      </p:sp>
    </p:spTree>
    <p:extLst>
      <p:ext uri="{BB962C8B-B14F-4D97-AF65-F5344CB8AC3E}">
        <p14:creationId xmlns:p14="http://schemas.microsoft.com/office/powerpoint/2010/main" val="3956850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1D07FC2-A9BB-947F-52E7-3894E4B10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976"/>
          <a:stretch>
            <a:fillRect/>
          </a:stretch>
        </p:blipFill>
        <p:spPr>
          <a:xfrm>
            <a:off x="693642" y="5430275"/>
            <a:ext cx="2060409" cy="24516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21715F-827F-B585-BB9B-ECE9EBD7FA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30" r="1"/>
          <a:stretch>
            <a:fillRect/>
          </a:stretch>
        </p:blipFill>
        <p:spPr>
          <a:xfrm>
            <a:off x="3748828" y="5241463"/>
            <a:ext cx="2415530" cy="256234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04FEABE-3E30-FF4B-3F71-10CCC1D454D8}"/>
              </a:ext>
            </a:extLst>
          </p:cNvPr>
          <p:cNvSpPr txBox="1"/>
          <p:nvPr/>
        </p:nvSpPr>
        <p:spPr>
          <a:xfrm>
            <a:off x="240898" y="4286093"/>
            <a:ext cx="3854370" cy="871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734" indent="-160734">
              <a:buFont typeface="Arial" panose="020B0604020202020204" pitchFamily="34" charset="0"/>
              <a:buChar char="•"/>
            </a:pPr>
            <a:r>
              <a:rPr lang="en-US" sz="1013" dirty="0"/>
              <a:t>High-support transitions remain broadly stable </a:t>
            </a:r>
          </a:p>
          <a:p>
            <a:pPr marL="160734" indent="-160734">
              <a:buFont typeface="Arial" panose="020B0604020202020204" pitchFamily="34" charset="0"/>
              <a:buChar char="•"/>
            </a:pPr>
            <a:r>
              <a:rPr lang="en-US" sz="1013" dirty="0"/>
              <a:t>Lower-supported routes have greater variability in both BF and MJ (BF&gt;50 as a threshold?)</a:t>
            </a:r>
          </a:p>
          <a:p>
            <a:pPr marL="160734" indent="-160734">
              <a:buFont typeface="Arial" panose="020B0604020202020204" pitchFamily="34" charset="0"/>
              <a:buChar char="•"/>
            </a:pPr>
            <a:r>
              <a:rPr lang="en-US" sz="1013" b="1" dirty="0"/>
              <a:t>Core movement network remains stable</a:t>
            </a:r>
            <a:endParaRPr lang="en-US" sz="1013" dirty="0"/>
          </a:p>
          <a:p>
            <a:pPr marL="160734" indent="-160734">
              <a:buFont typeface="Arial" panose="020B0604020202020204" pitchFamily="34" charset="0"/>
              <a:buChar char="•"/>
            </a:pPr>
            <a:endParaRPr lang="en-US" sz="1013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505BA3-2D82-195A-72CA-9E796E75AC6C}"/>
              </a:ext>
            </a:extLst>
          </p:cNvPr>
          <p:cNvSpPr txBox="1"/>
          <p:nvPr/>
        </p:nvSpPr>
        <p:spPr>
          <a:xfrm>
            <a:off x="4837494" y="4857403"/>
            <a:ext cx="1922845" cy="559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Cerro Colorado routes (particularly to </a:t>
            </a:r>
            <a:r>
              <a:rPr lang="en-US" sz="1013" dirty="0" err="1"/>
              <a:t>yura</a:t>
            </a:r>
            <a:r>
              <a:rPr lang="en-US" sz="1013" dirty="0"/>
              <a:t>) are </a:t>
            </a:r>
            <a:r>
              <a:rPr lang="en-US" sz="1013" b="1" dirty="0"/>
              <a:t>sample-sensitive but real</a:t>
            </a:r>
            <a:endParaRPr lang="en-US" sz="1013" dirty="0"/>
          </a:p>
        </p:txBody>
      </p:sp>
    </p:spTree>
    <p:extLst>
      <p:ext uri="{BB962C8B-B14F-4D97-AF65-F5344CB8AC3E}">
        <p14:creationId xmlns:p14="http://schemas.microsoft.com/office/powerpoint/2010/main" val="172043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7C39-4D6A-1194-712A-5A49BE332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208943"/>
            <a:ext cx="5915025" cy="745629"/>
          </a:xfrm>
        </p:spPr>
        <p:txBody>
          <a:bodyPr/>
          <a:lstStyle/>
          <a:p>
            <a:r>
              <a:rPr lang="en-US" dirty="0"/>
              <a:t>Removing BF&lt;50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B4A878-D438-21EC-CF71-EEAFB75E0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12E128-A439-A460-2A2E-0C3EC33432FD}"/>
              </a:ext>
            </a:extLst>
          </p:cNvPr>
          <p:cNvSpPr txBox="1"/>
          <p:nvPr/>
        </p:nvSpPr>
        <p:spPr>
          <a:xfrm>
            <a:off x="644565" y="4936419"/>
            <a:ext cx="1171937" cy="40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Original</a:t>
            </a:r>
          </a:p>
          <a:p>
            <a:r>
              <a:rPr lang="en-US" sz="1013" dirty="0"/>
              <a:t>BF&gt;10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DA28EA-8EB1-F080-70CA-7BEACBD386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00" t="17588" r="29846" b="24980"/>
          <a:stretch>
            <a:fillRect/>
          </a:stretch>
        </p:blipFill>
        <p:spPr>
          <a:xfrm>
            <a:off x="3291354" y="3962314"/>
            <a:ext cx="3183762" cy="40629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5E59B0-D26D-9E86-679D-2B4CD658A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99532" y="4869018"/>
            <a:ext cx="4371975" cy="295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25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699D41-F76B-4E77-BDF6-765D90D9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6AFEA-2DC3-FBA1-B8E1-841763E4F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Urbanicity = most stable directional system</a:t>
            </a:r>
          </a:p>
          <a:p>
            <a:r>
              <a:rPr lang="en-US" dirty="0"/>
              <a:t>River = intermediate stability, more sampling-sensitive</a:t>
            </a:r>
          </a:p>
          <a:p>
            <a:r>
              <a:rPr lang="en-US" dirty="0"/>
              <a:t>District = heterogeneous / edge-dependent stability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855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BFD9196-5940-630C-05D5-09A6B75BCE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70" t="21506" r="35279" b="17358"/>
          <a:stretch>
            <a:fillRect/>
          </a:stretch>
        </p:blipFill>
        <p:spPr>
          <a:xfrm>
            <a:off x="3510509" y="4394045"/>
            <a:ext cx="652347" cy="1248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75B6D5-08EB-347C-6AC5-9023167A0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540" y="6549716"/>
            <a:ext cx="2588478" cy="12942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E01A14-34A4-5EE1-4690-BDDF4B738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55" y="6559124"/>
            <a:ext cx="2931377" cy="1465689"/>
          </a:xfrm>
          <a:prstGeom prst="rect">
            <a:avLst/>
          </a:prstGeom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072B87EA-EDD9-0325-34B8-EA346481206A}"/>
              </a:ext>
            </a:extLst>
          </p:cNvPr>
          <p:cNvSpPr/>
          <p:nvPr/>
        </p:nvSpPr>
        <p:spPr>
          <a:xfrm rot="2807487">
            <a:off x="5450856" y="6964041"/>
            <a:ext cx="382627" cy="150541"/>
          </a:xfrm>
          <a:prstGeom prst="rightArrow">
            <a:avLst/>
          </a:prstGeom>
          <a:solidFill>
            <a:srgbClr val="DE8D29">
              <a:alpha val="58039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BE1D50FB-CE86-A279-7840-DE812AD1383E}"/>
              </a:ext>
            </a:extLst>
          </p:cNvPr>
          <p:cNvSpPr/>
          <p:nvPr/>
        </p:nvSpPr>
        <p:spPr>
          <a:xfrm rot="13495322">
            <a:off x="5676797" y="6981262"/>
            <a:ext cx="382627" cy="150541"/>
          </a:xfrm>
          <a:prstGeom prst="rightArrow">
            <a:avLst/>
          </a:prstGeom>
          <a:solidFill>
            <a:srgbClr val="E2D30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6ABA991E-CCE8-D83F-4670-9B67BBF3B3E5}"/>
              </a:ext>
            </a:extLst>
          </p:cNvPr>
          <p:cNvSpPr/>
          <p:nvPr/>
        </p:nvSpPr>
        <p:spPr>
          <a:xfrm rot="2807487">
            <a:off x="2441481" y="7042822"/>
            <a:ext cx="382627" cy="150541"/>
          </a:xfrm>
          <a:prstGeom prst="rightArrow">
            <a:avLst/>
          </a:prstGeom>
          <a:solidFill>
            <a:srgbClr val="DE8D29">
              <a:alpha val="58039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718E088D-458C-D5C3-C5CC-AA73E9B8E0DB}"/>
              </a:ext>
            </a:extLst>
          </p:cNvPr>
          <p:cNvSpPr/>
          <p:nvPr/>
        </p:nvSpPr>
        <p:spPr>
          <a:xfrm rot="13495322">
            <a:off x="2667422" y="7060043"/>
            <a:ext cx="382627" cy="150541"/>
          </a:xfrm>
          <a:prstGeom prst="rightArrow">
            <a:avLst/>
          </a:prstGeom>
          <a:solidFill>
            <a:srgbClr val="E2D30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1095531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67447F7-623C-7036-7E5D-D37B7E0F7CAB}"/>
              </a:ext>
            </a:extLst>
          </p:cNvPr>
          <p:cNvSpPr/>
          <p:nvPr/>
        </p:nvSpPr>
        <p:spPr>
          <a:xfrm>
            <a:off x="198120" y="5710898"/>
            <a:ext cx="3694430" cy="37014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1DFBE0-B85D-97F2-3BE8-7F594F683ECC}"/>
              </a:ext>
            </a:extLst>
          </p:cNvPr>
          <p:cNvCxnSpPr/>
          <p:nvPr/>
        </p:nvCxnSpPr>
        <p:spPr>
          <a:xfrm>
            <a:off x="2978719" y="7789638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A13A16-0319-2319-7882-38C87E1B18B6}"/>
              </a:ext>
            </a:extLst>
          </p:cNvPr>
          <p:cNvCxnSpPr/>
          <p:nvPr/>
        </p:nvCxnSpPr>
        <p:spPr>
          <a:xfrm>
            <a:off x="4237552" y="7789638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CFDD58-DF6E-6769-B4F6-A7C4001E4529}"/>
              </a:ext>
            </a:extLst>
          </p:cNvPr>
          <p:cNvCxnSpPr>
            <a:cxnSpLocks/>
          </p:cNvCxnSpPr>
          <p:nvPr/>
        </p:nvCxnSpPr>
        <p:spPr>
          <a:xfrm flipV="1">
            <a:off x="5504792" y="7789637"/>
            <a:ext cx="1144486" cy="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ADEA2D-D4FF-3AAE-37BE-F9F1F71F625C}"/>
              </a:ext>
            </a:extLst>
          </p:cNvPr>
          <p:cNvCxnSpPr/>
          <p:nvPr/>
        </p:nvCxnSpPr>
        <p:spPr>
          <a:xfrm>
            <a:off x="1705360" y="7789638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40EEBD-238A-1D55-E04A-B307685AE5E1}"/>
              </a:ext>
            </a:extLst>
          </p:cNvPr>
          <p:cNvCxnSpPr>
            <a:cxnSpLocks/>
            <a:stCxn id="21" idx="6"/>
          </p:cNvCxnSpPr>
          <p:nvPr/>
        </p:nvCxnSpPr>
        <p:spPr>
          <a:xfrm>
            <a:off x="978712" y="7789638"/>
            <a:ext cx="141804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C504E81-C950-0000-044F-0ACC1C34ED6F}"/>
              </a:ext>
            </a:extLst>
          </p:cNvPr>
          <p:cNvCxnSpPr>
            <a:cxnSpLocks/>
          </p:cNvCxnSpPr>
          <p:nvPr/>
        </p:nvCxnSpPr>
        <p:spPr>
          <a:xfrm>
            <a:off x="196946" y="7789638"/>
            <a:ext cx="546163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485667E8-ED23-1347-599B-952D15121914}"/>
              </a:ext>
            </a:extLst>
          </p:cNvPr>
          <p:cNvSpPr/>
          <p:nvPr/>
        </p:nvSpPr>
        <p:spPr>
          <a:xfrm>
            <a:off x="524905" y="7531123"/>
            <a:ext cx="517029" cy="517029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BB1046-4C48-3746-5874-B3434C3784EE}"/>
              </a:ext>
            </a:extLst>
          </p:cNvPr>
          <p:cNvGrpSpPr/>
          <p:nvPr/>
        </p:nvGrpSpPr>
        <p:grpSpPr>
          <a:xfrm>
            <a:off x="588128" y="7594346"/>
            <a:ext cx="390583" cy="1027612"/>
            <a:chOff x="695435" y="3648134"/>
            <a:chExt cx="694370" cy="182686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6E2492-5417-860C-0AC1-5E9CA84E83B1}"/>
                </a:ext>
              </a:extLst>
            </p:cNvPr>
            <p:cNvSpPr/>
            <p:nvPr/>
          </p:nvSpPr>
          <p:spPr>
            <a:xfrm>
              <a:off x="947370" y="3900069"/>
              <a:ext cx="190500" cy="190500"/>
            </a:xfrm>
            <a:prstGeom prst="ellipse">
              <a:avLst/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0" name="Circle: Hollow 8">
              <a:extLst>
                <a:ext uri="{FF2B5EF4-FFF2-40B4-BE49-F238E27FC236}">
                  <a16:creationId xmlns:a16="http://schemas.microsoft.com/office/drawing/2014/main" id="{65DC5EF3-683F-CD2E-7230-0AE0CF252FBB}"/>
                </a:ext>
              </a:extLst>
            </p:cNvPr>
            <p:cNvSpPr/>
            <p:nvPr/>
          </p:nvSpPr>
          <p:spPr>
            <a:xfrm>
              <a:off x="828307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21" name="Circle: Hollow 9">
              <a:extLst>
                <a:ext uri="{FF2B5EF4-FFF2-40B4-BE49-F238E27FC236}">
                  <a16:creationId xmlns:a16="http://schemas.microsoft.com/office/drawing/2014/main" id="{3C69D8AC-F6DF-CB47-2251-30F75CE2F6A6}"/>
                </a:ext>
              </a:extLst>
            </p:cNvPr>
            <p:cNvSpPr/>
            <p:nvPr/>
          </p:nvSpPr>
          <p:spPr>
            <a:xfrm>
              <a:off x="695435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BD8D421-7DFD-C842-CAE2-4C533E58D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621" y="4342505"/>
              <a:ext cx="0" cy="1033387"/>
            </a:xfrm>
            <a:prstGeom prst="line">
              <a:avLst/>
            </a:prstGeom>
            <a:ln w="19050">
              <a:solidFill>
                <a:srgbClr val="4F9EE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95F7FF7-549E-78E3-727B-87847044C8BE}"/>
                </a:ext>
              </a:extLst>
            </p:cNvPr>
            <p:cNvSpPr/>
            <p:nvPr/>
          </p:nvSpPr>
          <p:spPr>
            <a:xfrm>
              <a:off x="980500" y="5350759"/>
              <a:ext cx="124240" cy="124240"/>
            </a:xfrm>
            <a:prstGeom prst="ellipse">
              <a:avLst/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B79D5DA-BDB3-A7F5-9DB3-48C6DE296E94}"/>
              </a:ext>
            </a:extLst>
          </p:cNvPr>
          <p:cNvSpPr txBox="1"/>
          <p:nvPr/>
        </p:nvSpPr>
        <p:spPr>
          <a:xfrm>
            <a:off x="357217" y="7208300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4F9EEC"/>
                </a:solidFill>
                <a:latin typeface="+mj-lt"/>
              </a:rPr>
              <a:t>1999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CE490EB-1B4D-231B-1C14-B911A9AE9EB6}"/>
              </a:ext>
            </a:extLst>
          </p:cNvPr>
          <p:cNvGrpSpPr/>
          <p:nvPr/>
        </p:nvGrpSpPr>
        <p:grpSpPr>
          <a:xfrm>
            <a:off x="1520174" y="6986991"/>
            <a:ext cx="517029" cy="1061161"/>
            <a:chOff x="2301254" y="2568391"/>
            <a:chExt cx="919162" cy="1886509"/>
          </a:xfrm>
        </p:grpSpPr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FE631891-FC70-DA77-B35E-6450C67228FD}"/>
                </a:ext>
              </a:extLst>
            </p:cNvPr>
            <p:cNvSpPr/>
            <p:nvPr/>
          </p:nvSpPr>
          <p:spPr>
            <a:xfrm rot="5400000">
              <a:off x="2301254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038ECB7-4D00-65FC-6543-EB4304968A3B}"/>
                </a:ext>
              </a:extLst>
            </p:cNvPr>
            <p:cNvSpPr/>
            <p:nvPr/>
          </p:nvSpPr>
          <p:spPr>
            <a:xfrm>
              <a:off x="2665585" y="3900069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8" name="Circle: Hollow 20">
              <a:extLst>
                <a:ext uri="{FF2B5EF4-FFF2-40B4-BE49-F238E27FC236}">
                  <a16:creationId xmlns:a16="http://schemas.microsoft.com/office/drawing/2014/main" id="{44D37F28-894E-B0CB-D323-E4E3C396C833}"/>
                </a:ext>
              </a:extLst>
            </p:cNvPr>
            <p:cNvSpPr/>
            <p:nvPr/>
          </p:nvSpPr>
          <p:spPr>
            <a:xfrm>
              <a:off x="2546522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29" name="Circle: Hollow 21">
              <a:extLst>
                <a:ext uri="{FF2B5EF4-FFF2-40B4-BE49-F238E27FC236}">
                  <a16:creationId xmlns:a16="http://schemas.microsoft.com/office/drawing/2014/main" id="{057A390E-4524-4EB7-DF1E-A9DF0CAF918E}"/>
                </a:ext>
              </a:extLst>
            </p:cNvPr>
            <p:cNvSpPr/>
            <p:nvPr/>
          </p:nvSpPr>
          <p:spPr>
            <a:xfrm>
              <a:off x="2413650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CA69254-CBAB-88EE-631F-0CA2AB7333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0836" y="2614747"/>
              <a:ext cx="0" cy="1033387"/>
            </a:xfrm>
            <a:prstGeom prst="line">
              <a:avLst/>
            </a:prstGeom>
            <a:ln w="19050">
              <a:solidFill>
                <a:srgbClr val="EE95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9E958BE-B506-8219-5228-DE5CB76BDD0F}"/>
                </a:ext>
              </a:extLst>
            </p:cNvPr>
            <p:cNvSpPr/>
            <p:nvPr/>
          </p:nvSpPr>
          <p:spPr>
            <a:xfrm>
              <a:off x="2698715" y="2568391"/>
              <a:ext cx="124240" cy="12424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47001F4-9BAD-2533-31BA-4A74B4BBC3E4}"/>
              </a:ext>
            </a:extLst>
          </p:cNvPr>
          <p:cNvSpPr txBox="1"/>
          <p:nvPr/>
        </p:nvSpPr>
        <p:spPr>
          <a:xfrm>
            <a:off x="1323713" y="8004623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EE9524"/>
                </a:solidFill>
                <a:latin typeface="+mj-lt"/>
              </a:rPr>
              <a:t>2013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48D16B-42BA-F885-91C5-D187C5F649A5}"/>
              </a:ext>
            </a:extLst>
          </p:cNvPr>
          <p:cNvSpPr txBox="1"/>
          <p:nvPr/>
        </p:nvSpPr>
        <p:spPr>
          <a:xfrm>
            <a:off x="967926" y="6495371"/>
            <a:ext cx="1599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REDIPRA 14 declares Arequipa rabies-free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E48898A-C529-F273-D43E-9BCE3C6AB71C}"/>
              </a:ext>
            </a:extLst>
          </p:cNvPr>
          <p:cNvGrpSpPr/>
          <p:nvPr/>
        </p:nvGrpSpPr>
        <p:grpSpPr>
          <a:xfrm>
            <a:off x="2578666" y="7531124"/>
            <a:ext cx="517029" cy="1090834"/>
            <a:chOff x="3671809" y="3535738"/>
            <a:chExt cx="919162" cy="1939261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74E4FD63-20ED-CB18-5754-E275F23B3801}"/>
                </a:ext>
              </a:extLst>
            </p:cNvPr>
            <p:cNvSpPr/>
            <p:nvPr/>
          </p:nvSpPr>
          <p:spPr>
            <a:xfrm>
              <a:off x="3671809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9CE602D-0CF9-8771-1723-97E67EC1997E}"/>
                </a:ext>
              </a:extLst>
            </p:cNvPr>
            <p:cNvSpPr/>
            <p:nvPr/>
          </p:nvSpPr>
          <p:spPr>
            <a:xfrm>
              <a:off x="4036140" y="3900069"/>
              <a:ext cx="190500" cy="190500"/>
            </a:xfrm>
            <a:prstGeom prst="ellipse">
              <a:avLst/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7" name="Circle: Hollow 29">
              <a:extLst>
                <a:ext uri="{FF2B5EF4-FFF2-40B4-BE49-F238E27FC236}">
                  <a16:creationId xmlns:a16="http://schemas.microsoft.com/office/drawing/2014/main" id="{8B89B0D0-347A-38C4-2DA7-8E6E6DCCC26A}"/>
                </a:ext>
              </a:extLst>
            </p:cNvPr>
            <p:cNvSpPr/>
            <p:nvPr/>
          </p:nvSpPr>
          <p:spPr>
            <a:xfrm>
              <a:off x="3917077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38" name="Circle: Hollow 30">
              <a:extLst>
                <a:ext uri="{FF2B5EF4-FFF2-40B4-BE49-F238E27FC236}">
                  <a16:creationId xmlns:a16="http://schemas.microsoft.com/office/drawing/2014/main" id="{7C0A8759-789A-7A57-C1DB-38808A5FCD5F}"/>
                </a:ext>
              </a:extLst>
            </p:cNvPr>
            <p:cNvSpPr/>
            <p:nvPr/>
          </p:nvSpPr>
          <p:spPr>
            <a:xfrm>
              <a:off x="3784205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9A952BF-C283-AE36-33B1-B3FE84369B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1391" y="4342505"/>
              <a:ext cx="0" cy="1033387"/>
            </a:xfrm>
            <a:prstGeom prst="line">
              <a:avLst/>
            </a:prstGeom>
            <a:ln w="19050">
              <a:solidFill>
                <a:srgbClr val="EE3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C721F54-14AB-C155-C697-AD65C3B812D7}"/>
                </a:ext>
              </a:extLst>
            </p:cNvPr>
            <p:cNvSpPr/>
            <p:nvPr/>
          </p:nvSpPr>
          <p:spPr>
            <a:xfrm>
              <a:off x="4069270" y="5350759"/>
              <a:ext cx="124240" cy="124240"/>
            </a:xfrm>
            <a:prstGeom prst="ellipse">
              <a:avLst/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921FB71D-30A3-B584-128A-02EDAD7D753A}"/>
              </a:ext>
            </a:extLst>
          </p:cNvPr>
          <p:cNvSpPr txBox="1"/>
          <p:nvPr/>
        </p:nvSpPr>
        <p:spPr>
          <a:xfrm>
            <a:off x="2404302" y="7208300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EE3837"/>
                </a:solidFill>
                <a:latin typeface="+mj-lt"/>
              </a:rPr>
              <a:t>2014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9CC05C-C345-B272-D2AD-04686D2AB0B3}"/>
              </a:ext>
            </a:extLst>
          </p:cNvPr>
          <p:cNvSpPr txBox="1"/>
          <p:nvPr/>
        </p:nvSpPr>
        <p:spPr>
          <a:xfrm>
            <a:off x="2186945" y="8603521"/>
            <a:ext cx="1287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Two canine rabies cases in Camaná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F48A00C-95BA-8858-E8E4-B37B40E785E2}"/>
              </a:ext>
            </a:extLst>
          </p:cNvPr>
          <p:cNvGrpSpPr/>
          <p:nvPr/>
        </p:nvGrpSpPr>
        <p:grpSpPr>
          <a:xfrm>
            <a:off x="3637158" y="6986991"/>
            <a:ext cx="517029" cy="1061161"/>
            <a:chOff x="5494125" y="2568391"/>
            <a:chExt cx="919162" cy="1886509"/>
          </a:xfrm>
        </p:grpSpPr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A62A368F-F372-C5BB-F360-97C56B4D2BCA}"/>
                </a:ext>
              </a:extLst>
            </p:cNvPr>
            <p:cNvSpPr/>
            <p:nvPr/>
          </p:nvSpPr>
          <p:spPr>
            <a:xfrm rot="5400000">
              <a:off x="5494125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E4C97FB-B82F-57C3-EFF8-F77DE9D49BD5}"/>
                </a:ext>
              </a:extLst>
            </p:cNvPr>
            <p:cNvSpPr/>
            <p:nvPr/>
          </p:nvSpPr>
          <p:spPr>
            <a:xfrm>
              <a:off x="5858456" y="3900069"/>
              <a:ext cx="190500" cy="190500"/>
            </a:xfrm>
            <a:prstGeom prst="ellipse">
              <a:avLst/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46" name="Circle: Hollow 46">
              <a:extLst>
                <a:ext uri="{FF2B5EF4-FFF2-40B4-BE49-F238E27FC236}">
                  <a16:creationId xmlns:a16="http://schemas.microsoft.com/office/drawing/2014/main" id="{21D363EF-4782-58F8-8DE2-04C04239AC40}"/>
                </a:ext>
              </a:extLst>
            </p:cNvPr>
            <p:cNvSpPr/>
            <p:nvPr/>
          </p:nvSpPr>
          <p:spPr>
            <a:xfrm>
              <a:off x="5739393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47" name="Circle: Hollow 47">
              <a:extLst>
                <a:ext uri="{FF2B5EF4-FFF2-40B4-BE49-F238E27FC236}">
                  <a16:creationId xmlns:a16="http://schemas.microsoft.com/office/drawing/2014/main" id="{893CA9BD-53F3-AD68-E239-287B46B903B4}"/>
                </a:ext>
              </a:extLst>
            </p:cNvPr>
            <p:cNvSpPr/>
            <p:nvPr/>
          </p:nvSpPr>
          <p:spPr>
            <a:xfrm>
              <a:off x="5606521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FFF3350-B049-0816-0C30-BED548412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3707" y="2614747"/>
              <a:ext cx="0" cy="1033387"/>
            </a:xfrm>
            <a:prstGeom prst="line">
              <a:avLst/>
            </a:prstGeom>
            <a:ln w="19050">
              <a:solidFill>
                <a:srgbClr val="3131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62759E3-C3DA-FA97-19AC-9BD3E6341D56}"/>
                </a:ext>
              </a:extLst>
            </p:cNvPr>
            <p:cNvSpPr/>
            <p:nvPr/>
          </p:nvSpPr>
          <p:spPr>
            <a:xfrm>
              <a:off x="5891586" y="2568391"/>
              <a:ext cx="124240" cy="124240"/>
            </a:xfrm>
            <a:prstGeom prst="ellipse">
              <a:avLst/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3E176BD8-B4D1-2C48-52B5-BE14DE442554}"/>
              </a:ext>
            </a:extLst>
          </p:cNvPr>
          <p:cNvSpPr txBox="1"/>
          <p:nvPr/>
        </p:nvSpPr>
        <p:spPr>
          <a:xfrm>
            <a:off x="3498243" y="8004623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3131CC"/>
                </a:solidFill>
                <a:latin typeface="+mj-lt"/>
              </a:rPr>
              <a:t>2015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09211DB-F17C-E478-8709-522B2FD7BF2D}"/>
              </a:ext>
            </a:extLst>
          </p:cNvPr>
          <p:cNvSpPr txBox="1"/>
          <p:nvPr/>
        </p:nvSpPr>
        <p:spPr>
          <a:xfrm>
            <a:off x="3119471" y="6524612"/>
            <a:ext cx="1482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Rabies re-emerges in Arequipa city 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4B0CD8A-E106-C354-6430-D7FCAEDFCA00}"/>
              </a:ext>
            </a:extLst>
          </p:cNvPr>
          <p:cNvGrpSpPr/>
          <p:nvPr/>
        </p:nvGrpSpPr>
        <p:grpSpPr>
          <a:xfrm>
            <a:off x="4695650" y="7531124"/>
            <a:ext cx="517029" cy="1090834"/>
            <a:chOff x="7716291" y="3535738"/>
            <a:chExt cx="919162" cy="1939261"/>
          </a:xfrm>
        </p:grpSpPr>
        <p:sp>
          <p:nvSpPr>
            <p:cNvPr id="53" name="Arc 52">
              <a:extLst>
                <a:ext uri="{FF2B5EF4-FFF2-40B4-BE49-F238E27FC236}">
                  <a16:creationId xmlns:a16="http://schemas.microsoft.com/office/drawing/2014/main" id="{3EE8336E-27C0-379D-8489-5F617E7F4F27}"/>
                </a:ext>
              </a:extLst>
            </p:cNvPr>
            <p:cNvSpPr/>
            <p:nvPr/>
          </p:nvSpPr>
          <p:spPr>
            <a:xfrm>
              <a:off x="7716291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CE24358-DBD8-E4A3-CA91-A7B873E4FC90}"/>
                </a:ext>
              </a:extLst>
            </p:cNvPr>
            <p:cNvSpPr/>
            <p:nvPr/>
          </p:nvSpPr>
          <p:spPr>
            <a:xfrm>
              <a:off x="8080622" y="3900069"/>
              <a:ext cx="190500" cy="19050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55" name="Circle: Hollow 55">
              <a:extLst>
                <a:ext uri="{FF2B5EF4-FFF2-40B4-BE49-F238E27FC236}">
                  <a16:creationId xmlns:a16="http://schemas.microsoft.com/office/drawing/2014/main" id="{DBBD5191-C9CA-8A97-DBD5-1B26E4410ECB}"/>
                </a:ext>
              </a:extLst>
            </p:cNvPr>
            <p:cNvSpPr/>
            <p:nvPr/>
          </p:nvSpPr>
          <p:spPr>
            <a:xfrm>
              <a:off x="7961559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56" name="Circle: Hollow 56">
              <a:extLst>
                <a:ext uri="{FF2B5EF4-FFF2-40B4-BE49-F238E27FC236}">
                  <a16:creationId xmlns:a16="http://schemas.microsoft.com/office/drawing/2014/main" id="{1FDD0C89-D64D-9732-5C5A-2F9F473AE6B3}"/>
                </a:ext>
              </a:extLst>
            </p:cNvPr>
            <p:cNvSpPr/>
            <p:nvPr/>
          </p:nvSpPr>
          <p:spPr>
            <a:xfrm>
              <a:off x="7828687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3191318-5152-D97D-44B4-9C58CB58BD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5873" y="4342505"/>
              <a:ext cx="0" cy="103338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0739ED3-54C5-A676-A721-154BF68DC223}"/>
                </a:ext>
              </a:extLst>
            </p:cNvPr>
            <p:cNvSpPr/>
            <p:nvPr/>
          </p:nvSpPr>
          <p:spPr>
            <a:xfrm>
              <a:off x="8113752" y="5350759"/>
              <a:ext cx="124240" cy="124240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1865846-DC44-F0DA-4DF6-86C324E01F96}"/>
              </a:ext>
            </a:extLst>
          </p:cNvPr>
          <p:cNvSpPr txBox="1"/>
          <p:nvPr/>
        </p:nvSpPr>
        <p:spPr>
          <a:xfrm>
            <a:off x="4486434" y="7208300"/>
            <a:ext cx="1170062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2021/22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71ADBBF-0906-C95A-C4F1-FA318DA15095}"/>
              </a:ext>
            </a:extLst>
          </p:cNvPr>
          <p:cNvSpPr txBox="1"/>
          <p:nvPr/>
        </p:nvSpPr>
        <p:spPr>
          <a:xfrm>
            <a:off x="4423061" y="8604773"/>
            <a:ext cx="1062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Rabies outbreaks in El Pedregal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24159A4-BA1E-C7EE-3AEF-CDD5060A1EF3}"/>
              </a:ext>
            </a:extLst>
          </p:cNvPr>
          <p:cNvCxnSpPr>
            <a:cxnSpLocks/>
          </p:cNvCxnSpPr>
          <p:nvPr/>
        </p:nvCxnSpPr>
        <p:spPr>
          <a:xfrm flipV="1">
            <a:off x="327760" y="9232556"/>
            <a:ext cx="995954" cy="2958"/>
          </a:xfrm>
          <a:prstGeom prst="line">
            <a:avLst/>
          </a:prstGeom>
          <a:ln w="19050">
            <a:solidFill>
              <a:srgbClr val="4F9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002942F-6C44-86AA-4FF8-12E643E5C1A9}"/>
              </a:ext>
            </a:extLst>
          </p:cNvPr>
          <p:cNvCxnSpPr>
            <a:cxnSpLocks/>
          </p:cNvCxnSpPr>
          <p:nvPr/>
        </p:nvCxnSpPr>
        <p:spPr>
          <a:xfrm>
            <a:off x="2303069" y="9243388"/>
            <a:ext cx="997839" cy="0"/>
          </a:xfrm>
          <a:prstGeom prst="line">
            <a:avLst/>
          </a:prstGeom>
          <a:ln w="19050">
            <a:solidFill>
              <a:srgbClr val="EE38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F502A92-B157-E7E5-8B9F-F758BE6DC000}"/>
              </a:ext>
            </a:extLst>
          </p:cNvPr>
          <p:cNvCxnSpPr>
            <a:cxnSpLocks/>
          </p:cNvCxnSpPr>
          <p:nvPr/>
        </p:nvCxnSpPr>
        <p:spPr>
          <a:xfrm>
            <a:off x="4455243" y="9254220"/>
            <a:ext cx="997839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21ECB7A-494E-86F7-F2F2-40327338E8F3}"/>
              </a:ext>
            </a:extLst>
          </p:cNvPr>
          <p:cNvCxnSpPr>
            <a:cxnSpLocks/>
          </p:cNvCxnSpPr>
          <p:nvPr/>
        </p:nvCxnSpPr>
        <p:spPr>
          <a:xfrm>
            <a:off x="1268983" y="6424067"/>
            <a:ext cx="997839" cy="0"/>
          </a:xfrm>
          <a:prstGeom prst="line">
            <a:avLst/>
          </a:prstGeom>
          <a:ln w="19050">
            <a:solidFill>
              <a:srgbClr val="EE95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F9D6145-E813-1453-EFDB-1B3357D76B2D}"/>
              </a:ext>
            </a:extLst>
          </p:cNvPr>
          <p:cNvCxnSpPr>
            <a:cxnSpLocks/>
          </p:cNvCxnSpPr>
          <p:nvPr/>
        </p:nvCxnSpPr>
        <p:spPr>
          <a:xfrm>
            <a:off x="3369434" y="6424067"/>
            <a:ext cx="997839" cy="0"/>
          </a:xfrm>
          <a:prstGeom prst="line">
            <a:avLst/>
          </a:prstGeom>
          <a:ln w="19050">
            <a:solidFill>
              <a:srgbClr val="3131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33BE5E83-53AC-EE21-E472-C9A96AEBE05B}"/>
              </a:ext>
            </a:extLst>
          </p:cNvPr>
          <p:cNvSpPr txBox="1"/>
          <p:nvPr/>
        </p:nvSpPr>
        <p:spPr>
          <a:xfrm>
            <a:off x="183125" y="8604092"/>
            <a:ext cx="1287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Last detected case in Arequipa city and Region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D8F4F05-D24B-8451-59FF-7765B65D3972}"/>
              </a:ext>
            </a:extLst>
          </p:cNvPr>
          <p:cNvGrpSpPr/>
          <p:nvPr/>
        </p:nvGrpSpPr>
        <p:grpSpPr>
          <a:xfrm>
            <a:off x="5754142" y="6988233"/>
            <a:ext cx="517029" cy="1061161"/>
            <a:chOff x="5267125" y="6580729"/>
            <a:chExt cx="517029" cy="1061161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06F9C82-DC71-D83E-6C44-B17BC79B509C}"/>
                </a:ext>
              </a:extLst>
            </p:cNvPr>
            <p:cNvSpPr/>
            <p:nvPr/>
          </p:nvSpPr>
          <p:spPr>
            <a:xfrm>
              <a:off x="5475090" y="7329797"/>
              <a:ext cx="107156" cy="107156"/>
            </a:xfrm>
            <a:prstGeom prst="ellipse">
              <a:avLst/>
            </a:prstGeom>
            <a:solidFill>
              <a:srgbClr val="714A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22526B73-1187-DAC4-D2BC-2B5E63FD491D}"/>
                </a:ext>
              </a:extLst>
            </p:cNvPr>
            <p:cNvSpPr/>
            <p:nvPr/>
          </p:nvSpPr>
          <p:spPr>
            <a:xfrm rot="5400000">
              <a:off x="5267126" y="7124861"/>
              <a:ext cx="517028" cy="517029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80" name="Circle: Hollow 46">
              <a:extLst>
                <a:ext uri="{FF2B5EF4-FFF2-40B4-BE49-F238E27FC236}">
                  <a16:creationId xmlns:a16="http://schemas.microsoft.com/office/drawing/2014/main" id="{BCEEE14C-393D-594D-5118-6B3FEA7E2854}"/>
                </a:ext>
              </a:extLst>
            </p:cNvPr>
            <p:cNvSpPr/>
            <p:nvPr/>
          </p:nvSpPr>
          <p:spPr>
            <a:xfrm>
              <a:off x="5405089" y="7262825"/>
              <a:ext cx="241102" cy="241102"/>
            </a:xfrm>
            <a:prstGeom prst="donut">
              <a:avLst>
                <a:gd name="adj" fmla="val 5281"/>
              </a:avLst>
            </a:prstGeom>
            <a:solidFill>
              <a:srgbClr val="714AAC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81" name="Circle: Hollow 47">
              <a:extLst>
                <a:ext uri="{FF2B5EF4-FFF2-40B4-BE49-F238E27FC236}">
                  <a16:creationId xmlns:a16="http://schemas.microsoft.com/office/drawing/2014/main" id="{A70E6E0E-FAA4-50B8-C2A8-7A2B5A6BCA1C}"/>
                </a:ext>
              </a:extLst>
            </p:cNvPr>
            <p:cNvSpPr/>
            <p:nvPr/>
          </p:nvSpPr>
          <p:spPr>
            <a:xfrm>
              <a:off x="5330349" y="7188084"/>
              <a:ext cx="390583" cy="390583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A8E8FCA-DDC2-1EB8-E0DF-777AB0FAFC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5641" y="6606804"/>
              <a:ext cx="0" cy="581280"/>
            </a:xfrm>
            <a:prstGeom prst="line">
              <a:avLst/>
            </a:prstGeom>
            <a:ln w="19050">
              <a:solidFill>
                <a:srgbClr val="714A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E99DCCB-C77C-2486-C633-9BFDEE860A64}"/>
                </a:ext>
              </a:extLst>
            </p:cNvPr>
            <p:cNvSpPr/>
            <p:nvPr/>
          </p:nvSpPr>
          <p:spPr>
            <a:xfrm>
              <a:off x="5490698" y="6580729"/>
              <a:ext cx="69885" cy="69885"/>
            </a:xfrm>
            <a:prstGeom prst="ellipse">
              <a:avLst/>
            </a:prstGeom>
            <a:solidFill>
              <a:srgbClr val="714AAC"/>
            </a:solidFill>
            <a:ln>
              <a:solidFill>
                <a:srgbClr val="6C3B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E845D137-A148-6C96-FC0E-27B6F6DAF861}"/>
              </a:ext>
            </a:extLst>
          </p:cNvPr>
          <p:cNvSpPr txBox="1"/>
          <p:nvPr/>
        </p:nvSpPr>
        <p:spPr>
          <a:xfrm>
            <a:off x="5586454" y="8004623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714AAC"/>
                </a:solidFill>
                <a:latin typeface="+mj-lt"/>
              </a:rPr>
              <a:t>2025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41B3D3-FCF5-F4D3-FE8A-E300BD41CA9D}"/>
              </a:ext>
            </a:extLst>
          </p:cNvPr>
          <p:cNvSpPr txBox="1"/>
          <p:nvPr/>
        </p:nvSpPr>
        <p:spPr>
          <a:xfrm>
            <a:off x="5231197" y="6499543"/>
            <a:ext cx="146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Rabies persistence in Arequipa City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F70C3A86-C43D-8F07-3F57-FA868A050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11" y="126329"/>
            <a:ext cx="6477000" cy="5029200"/>
          </a:xfrm>
          <a:prstGeom prst="rect">
            <a:avLst/>
          </a:prstGeom>
        </p:spPr>
      </p:pic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AA9FDF9-07F7-BD0A-7E47-46851305F001}"/>
              </a:ext>
            </a:extLst>
          </p:cNvPr>
          <p:cNvCxnSpPr>
            <a:cxnSpLocks/>
          </p:cNvCxnSpPr>
          <p:nvPr/>
        </p:nvCxnSpPr>
        <p:spPr>
          <a:xfrm flipH="1" flipV="1">
            <a:off x="3445873" y="3358602"/>
            <a:ext cx="422480" cy="3064751"/>
          </a:xfrm>
          <a:prstGeom prst="line">
            <a:avLst/>
          </a:prstGeom>
          <a:ln w="12700">
            <a:solidFill>
              <a:srgbClr val="3131C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56BD920-5B3A-B945-8F1C-F2BB42020707}"/>
              </a:ext>
            </a:extLst>
          </p:cNvPr>
          <p:cNvCxnSpPr>
            <a:cxnSpLocks/>
          </p:cNvCxnSpPr>
          <p:nvPr/>
        </p:nvCxnSpPr>
        <p:spPr>
          <a:xfrm flipH="1" flipV="1">
            <a:off x="3020195" y="3251200"/>
            <a:ext cx="1933970" cy="4020660"/>
          </a:xfrm>
          <a:prstGeom prst="line">
            <a:avLst/>
          </a:prstGeom>
          <a:ln w="12700">
            <a:solidFill>
              <a:srgbClr val="26531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2B87B2ED-0713-EE40-7CAA-E1DAC1938A98}"/>
              </a:ext>
            </a:extLst>
          </p:cNvPr>
          <p:cNvSpPr txBox="1"/>
          <p:nvPr/>
        </p:nvSpPr>
        <p:spPr>
          <a:xfrm>
            <a:off x="3998837" y="5762703"/>
            <a:ext cx="2612987" cy="523220"/>
          </a:xfrm>
          <a:prstGeom prst="rect">
            <a:avLst/>
          </a:prstGeom>
          <a:solidFill>
            <a:schemeClr val="bg1">
              <a:alpha val="6392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Rabies re-emergence and persistence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D5C9BC-7542-13EC-C7CE-3FA8A92B7144}"/>
              </a:ext>
            </a:extLst>
          </p:cNvPr>
          <p:cNvCxnSpPr>
            <a:cxnSpLocks/>
          </p:cNvCxnSpPr>
          <p:nvPr/>
        </p:nvCxnSpPr>
        <p:spPr>
          <a:xfrm flipH="1" flipV="1">
            <a:off x="2470234" y="3576453"/>
            <a:ext cx="360271" cy="3631847"/>
          </a:xfrm>
          <a:prstGeom prst="line">
            <a:avLst/>
          </a:prstGeom>
          <a:ln w="12700">
            <a:solidFill>
              <a:srgbClr val="EE383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A109F9D6-ECED-B327-5D7A-A455F1F12DC1}"/>
              </a:ext>
            </a:extLst>
          </p:cNvPr>
          <p:cNvSpPr txBox="1"/>
          <p:nvPr/>
        </p:nvSpPr>
        <p:spPr>
          <a:xfrm>
            <a:off x="305752" y="5762703"/>
            <a:ext cx="3469369" cy="523220"/>
          </a:xfrm>
          <a:prstGeom prst="rect">
            <a:avLst/>
          </a:prstGeom>
          <a:solidFill>
            <a:srgbClr val="F2F2F2">
              <a:alpha val="58431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16 years of epidemiological silence in Arequipa city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8BD57E5-A634-A104-B490-D6F743A0C27B}"/>
              </a:ext>
            </a:extLst>
          </p:cNvPr>
          <p:cNvCxnSpPr>
            <a:cxnSpLocks/>
          </p:cNvCxnSpPr>
          <p:nvPr/>
        </p:nvCxnSpPr>
        <p:spPr>
          <a:xfrm>
            <a:off x="5504791" y="6423353"/>
            <a:ext cx="997839" cy="0"/>
          </a:xfrm>
          <a:prstGeom prst="line">
            <a:avLst/>
          </a:prstGeom>
          <a:ln w="19050">
            <a:solidFill>
              <a:srgbClr val="714A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151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60FA2-A613-32BE-5418-DFAE31934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0">
            <a:extLst>
              <a:ext uri="{FF2B5EF4-FFF2-40B4-BE49-F238E27FC236}">
                <a16:creationId xmlns:a16="http://schemas.microsoft.com/office/drawing/2014/main" id="{EB341698-7FBE-EC22-A734-AF4176120CB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07373" y="5118645"/>
            <a:ext cx="6492240" cy="5025010"/>
          </a:xfrm>
          <a:prstGeom prst="rect">
            <a:avLst/>
          </a:prstGeom>
        </p:spPr>
      </p:pic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ED8AD27-68E9-7118-D6E7-4BB0779E3B14}"/>
              </a:ext>
            </a:extLst>
          </p:cNvPr>
          <p:cNvCxnSpPr>
            <a:cxnSpLocks/>
          </p:cNvCxnSpPr>
          <p:nvPr/>
        </p:nvCxnSpPr>
        <p:spPr>
          <a:xfrm flipV="1">
            <a:off x="2972599" y="4989668"/>
            <a:ext cx="1856090" cy="3273799"/>
          </a:xfrm>
          <a:prstGeom prst="line">
            <a:avLst/>
          </a:prstGeom>
          <a:ln w="12700">
            <a:solidFill>
              <a:srgbClr val="FF85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66FCBDDF-4ABA-DA68-9C0B-B8CF7018EA71}"/>
              </a:ext>
            </a:extLst>
          </p:cNvPr>
          <p:cNvSpPr/>
          <p:nvPr/>
        </p:nvSpPr>
        <p:spPr>
          <a:xfrm>
            <a:off x="196144" y="5183337"/>
            <a:ext cx="6487427" cy="49502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6A023F28-6970-2891-659F-265B5E0F31BB}"/>
              </a:ext>
            </a:extLst>
          </p:cNvPr>
          <p:cNvSpPr/>
          <p:nvPr/>
        </p:nvSpPr>
        <p:spPr>
          <a:xfrm>
            <a:off x="203541" y="1248760"/>
            <a:ext cx="3695605" cy="38598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6BF41214-B87E-053A-79A5-5FE932D6FD81}"/>
              </a:ext>
            </a:extLst>
          </p:cNvPr>
          <p:cNvCxnSpPr/>
          <p:nvPr/>
        </p:nvCxnSpPr>
        <p:spPr>
          <a:xfrm>
            <a:off x="2985316" y="3487343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93FD0DCC-BAA5-CC51-8448-95CEFB03390A}"/>
              </a:ext>
            </a:extLst>
          </p:cNvPr>
          <p:cNvCxnSpPr/>
          <p:nvPr/>
        </p:nvCxnSpPr>
        <p:spPr>
          <a:xfrm>
            <a:off x="4244149" y="3487343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D0668F3B-AAC5-CA51-231B-04A4E32CE6CB}"/>
              </a:ext>
            </a:extLst>
          </p:cNvPr>
          <p:cNvCxnSpPr>
            <a:cxnSpLocks/>
          </p:cNvCxnSpPr>
          <p:nvPr/>
        </p:nvCxnSpPr>
        <p:spPr>
          <a:xfrm flipV="1">
            <a:off x="5511389" y="3487342"/>
            <a:ext cx="1144486" cy="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3AA0FD7-5891-2B2B-0348-FD5C09635C54}"/>
              </a:ext>
            </a:extLst>
          </p:cNvPr>
          <p:cNvCxnSpPr/>
          <p:nvPr/>
        </p:nvCxnSpPr>
        <p:spPr>
          <a:xfrm>
            <a:off x="1711957" y="3487343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CF1EF14A-29AE-F91A-54EB-DD2DC9DA4D15}"/>
              </a:ext>
            </a:extLst>
          </p:cNvPr>
          <p:cNvCxnSpPr>
            <a:cxnSpLocks/>
            <a:stCxn id="295" idx="6"/>
          </p:cNvCxnSpPr>
          <p:nvPr/>
        </p:nvCxnSpPr>
        <p:spPr>
          <a:xfrm>
            <a:off x="985309" y="3487343"/>
            <a:ext cx="141804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03C7F646-D120-2C7A-AA4F-2C2B0EFE355C}"/>
              </a:ext>
            </a:extLst>
          </p:cNvPr>
          <p:cNvCxnSpPr>
            <a:cxnSpLocks/>
          </p:cNvCxnSpPr>
          <p:nvPr/>
        </p:nvCxnSpPr>
        <p:spPr>
          <a:xfrm>
            <a:off x="203543" y="3487343"/>
            <a:ext cx="546163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Arc 290">
            <a:extLst>
              <a:ext uri="{FF2B5EF4-FFF2-40B4-BE49-F238E27FC236}">
                <a16:creationId xmlns:a16="http://schemas.microsoft.com/office/drawing/2014/main" id="{24E5C5F8-6E1E-A645-52BC-C2C489FB23F0}"/>
              </a:ext>
            </a:extLst>
          </p:cNvPr>
          <p:cNvSpPr/>
          <p:nvPr/>
        </p:nvSpPr>
        <p:spPr>
          <a:xfrm>
            <a:off x="531502" y="3228828"/>
            <a:ext cx="517029" cy="517029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BC8E1CBE-1899-244E-B8CB-983D1C605BD9}"/>
              </a:ext>
            </a:extLst>
          </p:cNvPr>
          <p:cNvGrpSpPr/>
          <p:nvPr/>
        </p:nvGrpSpPr>
        <p:grpSpPr>
          <a:xfrm>
            <a:off x="594725" y="3292051"/>
            <a:ext cx="390583" cy="1027612"/>
            <a:chOff x="695435" y="3648134"/>
            <a:chExt cx="694370" cy="1826865"/>
          </a:xfrm>
        </p:grpSpPr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977F595D-11E9-AC89-8E36-8876EF218B01}"/>
                </a:ext>
              </a:extLst>
            </p:cNvPr>
            <p:cNvSpPr/>
            <p:nvPr/>
          </p:nvSpPr>
          <p:spPr>
            <a:xfrm>
              <a:off x="947370" y="3900069"/>
              <a:ext cx="190500" cy="190500"/>
            </a:xfrm>
            <a:prstGeom prst="ellipse">
              <a:avLst/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94" name="Circle: Hollow 8">
              <a:extLst>
                <a:ext uri="{FF2B5EF4-FFF2-40B4-BE49-F238E27FC236}">
                  <a16:creationId xmlns:a16="http://schemas.microsoft.com/office/drawing/2014/main" id="{78BD4005-53AC-3FAD-B0CE-FCB22909862E}"/>
                </a:ext>
              </a:extLst>
            </p:cNvPr>
            <p:cNvSpPr/>
            <p:nvPr/>
          </p:nvSpPr>
          <p:spPr>
            <a:xfrm>
              <a:off x="828307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295" name="Circle: Hollow 9">
              <a:extLst>
                <a:ext uri="{FF2B5EF4-FFF2-40B4-BE49-F238E27FC236}">
                  <a16:creationId xmlns:a16="http://schemas.microsoft.com/office/drawing/2014/main" id="{E5925C9F-9CD4-3CE5-A503-7278BCA49B00}"/>
                </a:ext>
              </a:extLst>
            </p:cNvPr>
            <p:cNvSpPr/>
            <p:nvPr/>
          </p:nvSpPr>
          <p:spPr>
            <a:xfrm>
              <a:off x="695435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BD8CD5C4-2FA1-31CC-8860-C1914081F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621" y="4342505"/>
              <a:ext cx="0" cy="1033387"/>
            </a:xfrm>
            <a:prstGeom prst="line">
              <a:avLst/>
            </a:prstGeom>
            <a:ln w="19050">
              <a:solidFill>
                <a:srgbClr val="4F9EE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0B186782-9902-13CF-9D9A-15F78522A21B}"/>
                </a:ext>
              </a:extLst>
            </p:cNvPr>
            <p:cNvSpPr/>
            <p:nvPr/>
          </p:nvSpPr>
          <p:spPr>
            <a:xfrm>
              <a:off x="980500" y="5350759"/>
              <a:ext cx="124240" cy="124240"/>
            </a:xfrm>
            <a:prstGeom prst="ellipse">
              <a:avLst/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298" name="TextBox 297">
            <a:extLst>
              <a:ext uri="{FF2B5EF4-FFF2-40B4-BE49-F238E27FC236}">
                <a16:creationId xmlns:a16="http://schemas.microsoft.com/office/drawing/2014/main" id="{75D5F6BB-2262-D965-E8B6-8A30798D4170}"/>
              </a:ext>
            </a:extLst>
          </p:cNvPr>
          <p:cNvSpPr txBox="1"/>
          <p:nvPr/>
        </p:nvSpPr>
        <p:spPr>
          <a:xfrm>
            <a:off x="363814" y="2906005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4F9EEC"/>
                </a:solidFill>
                <a:latin typeface="+mj-lt"/>
              </a:rPr>
              <a:t>1999</a:t>
            </a:r>
          </a:p>
        </p:txBody>
      </p: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27FEFFE7-3783-263A-6C19-3040DAB44905}"/>
              </a:ext>
            </a:extLst>
          </p:cNvPr>
          <p:cNvGrpSpPr/>
          <p:nvPr/>
        </p:nvGrpSpPr>
        <p:grpSpPr>
          <a:xfrm>
            <a:off x="1526771" y="2684696"/>
            <a:ext cx="517029" cy="1061161"/>
            <a:chOff x="2301254" y="2568391"/>
            <a:chExt cx="919162" cy="1886509"/>
          </a:xfrm>
        </p:grpSpPr>
        <p:sp>
          <p:nvSpPr>
            <p:cNvPr id="300" name="Arc 299">
              <a:extLst>
                <a:ext uri="{FF2B5EF4-FFF2-40B4-BE49-F238E27FC236}">
                  <a16:creationId xmlns:a16="http://schemas.microsoft.com/office/drawing/2014/main" id="{6300BA16-B1B0-5522-FFE6-88ECDE7F04D7}"/>
                </a:ext>
              </a:extLst>
            </p:cNvPr>
            <p:cNvSpPr/>
            <p:nvPr/>
          </p:nvSpPr>
          <p:spPr>
            <a:xfrm rot="5400000">
              <a:off x="2301254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E9850F75-F147-7DFA-8DA0-E02E75F46378}"/>
                </a:ext>
              </a:extLst>
            </p:cNvPr>
            <p:cNvSpPr/>
            <p:nvPr/>
          </p:nvSpPr>
          <p:spPr>
            <a:xfrm>
              <a:off x="2665585" y="3900069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02" name="Circle: Hollow 20">
              <a:extLst>
                <a:ext uri="{FF2B5EF4-FFF2-40B4-BE49-F238E27FC236}">
                  <a16:creationId xmlns:a16="http://schemas.microsoft.com/office/drawing/2014/main" id="{2EA35DF0-446A-033B-A828-7DFA1F0E54ED}"/>
                </a:ext>
              </a:extLst>
            </p:cNvPr>
            <p:cNvSpPr/>
            <p:nvPr/>
          </p:nvSpPr>
          <p:spPr>
            <a:xfrm>
              <a:off x="2546522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303" name="Circle: Hollow 21">
              <a:extLst>
                <a:ext uri="{FF2B5EF4-FFF2-40B4-BE49-F238E27FC236}">
                  <a16:creationId xmlns:a16="http://schemas.microsoft.com/office/drawing/2014/main" id="{87ABB036-1F87-1B23-1621-5A0C939DF8C6}"/>
                </a:ext>
              </a:extLst>
            </p:cNvPr>
            <p:cNvSpPr/>
            <p:nvPr/>
          </p:nvSpPr>
          <p:spPr>
            <a:xfrm>
              <a:off x="2413650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6C3F2A55-37F7-EC39-D0CB-550E677FBA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0836" y="2614747"/>
              <a:ext cx="0" cy="1033387"/>
            </a:xfrm>
            <a:prstGeom prst="line">
              <a:avLst/>
            </a:prstGeom>
            <a:ln w="19050">
              <a:solidFill>
                <a:srgbClr val="EE95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570A94EB-556C-F3CE-0672-105E185F056B}"/>
                </a:ext>
              </a:extLst>
            </p:cNvPr>
            <p:cNvSpPr/>
            <p:nvPr/>
          </p:nvSpPr>
          <p:spPr>
            <a:xfrm>
              <a:off x="2698715" y="2568391"/>
              <a:ext cx="124240" cy="12424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306" name="TextBox 305">
            <a:extLst>
              <a:ext uri="{FF2B5EF4-FFF2-40B4-BE49-F238E27FC236}">
                <a16:creationId xmlns:a16="http://schemas.microsoft.com/office/drawing/2014/main" id="{E08CCB71-12FB-AC11-1033-D2D940634F2C}"/>
              </a:ext>
            </a:extLst>
          </p:cNvPr>
          <p:cNvSpPr txBox="1"/>
          <p:nvPr/>
        </p:nvSpPr>
        <p:spPr>
          <a:xfrm>
            <a:off x="1330310" y="3702328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EE9524"/>
                </a:solidFill>
                <a:latin typeface="+mj-lt"/>
              </a:rPr>
              <a:t>2013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568AF2C8-8FBA-9EE8-91C9-6A5207CB10F7}"/>
              </a:ext>
            </a:extLst>
          </p:cNvPr>
          <p:cNvSpPr txBox="1"/>
          <p:nvPr/>
        </p:nvSpPr>
        <p:spPr>
          <a:xfrm>
            <a:off x="974523" y="2193076"/>
            <a:ext cx="1599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REDIPRA 14 declares Arequipa rabies-free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15F5C63-74F6-35FC-A73C-1DB40A4798D5}"/>
              </a:ext>
            </a:extLst>
          </p:cNvPr>
          <p:cNvGrpSpPr/>
          <p:nvPr/>
        </p:nvGrpSpPr>
        <p:grpSpPr>
          <a:xfrm>
            <a:off x="2585263" y="3228829"/>
            <a:ext cx="517029" cy="1090834"/>
            <a:chOff x="3671809" y="3535738"/>
            <a:chExt cx="919162" cy="1939261"/>
          </a:xfrm>
        </p:grpSpPr>
        <p:sp>
          <p:nvSpPr>
            <p:cNvPr id="309" name="Arc 308">
              <a:extLst>
                <a:ext uri="{FF2B5EF4-FFF2-40B4-BE49-F238E27FC236}">
                  <a16:creationId xmlns:a16="http://schemas.microsoft.com/office/drawing/2014/main" id="{D3E6DBEE-6DC5-D334-A63F-00A63B404A32}"/>
                </a:ext>
              </a:extLst>
            </p:cNvPr>
            <p:cNvSpPr/>
            <p:nvPr/>
          </p:nvSpPr>
          <p:spPr>
            <a:xfrm>
              <a:off x="3671809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877FEC61-FADE-FC42-F7AF-77297A9E9502}"/>
                </a:ext>
              </a:extLst>
            </p:cNvPr>
            <p:cNvSpPr/>
            <p:nvPr/>
          </p:nvSpPr>
          <p:spPr>
            <a:xfrm>
              <a:off x="4036140" y="3900069"/>
              <a:ext cx="190500" cy="190500"/>
            </a:xfrm>
            <a:prstGeom prst="ellipse">
              <a:avLst/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11" name="Circle: Hollow 29">
              <a:extLst>
                <a:ext uri="{FF2B5EF4-FFF2-40B4-BE49-F238E27FC236}">
                  <a16:creationId xmlns:a16="http://schemas.microsoft.com/office/drawing/2014/main" id="{EF2CED13-D8E3-3FE2-F459-68D732F5C282}"/>
                </a:ext>
              </a:extLst>
            </p:cNvPr>
            <p:cNvSpPr/>
            <p:nvPr/>
          </p:nvSpPr>
          <p:spPr>
            <a:xfrm>
              <a:off x="3917077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312" name="Circle: Hollow 30">
              <a:extLst>
                <a:ext uri="{FF2B5EF4-FFF2-40B4-BE49-F238E27FC236}">
                  <a16:creationId xmlns:a16="http://schemas.microsoft.com/office/drawing/2014/main" id="{B500C236-366D-318C-20AF-8B5C89CCA330}"/>
                </a:ext>
              </a:extLst>
            </p:cNvPr>
            <p:cNvSpPr/>
            <p:nvPr/>
          </p:nvSpPr>
          <p:spPr>
            <a:xfrm>
              <a:off x="3784205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92F8506D-BC0F-04EC-BA90-84DB6D1D53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1391" y="4342505"/>
              <a:ext cx="0" cy="1033387"/>
            </a:xfrm>
            <a:prstGeom prst="line">
              <a:avLst/>
            </a:prstGeom>
            <a:ln w="19050">
              <a:solidFill>
                <a:srgbClr val="EE3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50171F0A-1F7A-6034-B4C3-E2DEB3D9740A}"/>
                </a:ext>
              </a:extLst>
            </p:cNvPr>
            <p:cNvSpPr/>
            <p:nvPr/>
          </p:nvSpPr>
          <p:spPr>
            <a:xfrm>
              <a:off x="4069270" y="5350759"/>
              <a:ext cx="124240" cy="124240"/>
            </a:xfrm>
            <a:prstGeom prst="ellipse">
              <a:avLst/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315" name="TextBox 314">
            <a:extLst>
              <a:ext uri="{FF2B5EF4-FFF2-40B4-BE49-F238E27FC236}">
                <a16:creationId xmlns:a16="http://schemas.microsoft.com/office/drawing/2014/main" id="{48C8247A-D0D1-9492-AF28-5130130990A5}"/>
              </a:ext>
            </a:extLst>
          </p:cNvPr>
          <p:cNvSpPr txBox="1"/>
          <p:nvPr/>
        </p:nvSpPr>
        <p:spPr>
          <a:xfrm>
            <a:off x="2410899" y="2906005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EE3837"/>
                </a:solidFill>
                <a:latin typeface="+mj-lt"/>
              </a:rPr>
              <a:t>2014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6B4BF093-F61B-E585-FAD9-65ECD4A025C7}"/>
              </a:ext>
            </a:extLst>
          </p:cNvPr>
          <p:cNvSpPr txBox="1"/>
          <p:nvPr/>
        </p:nvSpPr>
        <p:spPr>
          <a:xfrm>
            <a:off x="2193542" y="4301226"/>
            <a:ext cx="1287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Two canine rabies cases in Camaná</a:t>
            </a:r>
          </a:p>
        </p:txBody>
      </p: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C7C9F708-7A68-6FB7-4CC9-49AB69AE59B2}"/>
              </a:ext>
            </a:extLst>
          </p:cNvPr>
          <p:cNvGrpSpPr/>
          <p:nvPr/>
        </p:nvGrpSpPr>
        <p:grpSpPr>
          <a:xfrm>
            <a:off x="3643755" y="2684696"/>
            <a:ext cx="517029" cy="1061161"/>
            <a:chOff x="5494125" y="2568391"/>
            <a:chExt cx="919162" cy="1886509"/>
          </a:xfrm>
        </p:grpSpPr>
        <p:sp>
          <p:nvSpPr>
            <p:cNvPr id="318" name="Arc 317">
              <a:extLst>
                <a:ext uri="{FF2B5EF4-FFF2-40B4-BE49-F238E27FC236}">
                  <a16:creationId xmlns:a16="http://schemas.microsoft.com/office/drawing/2014/main" id="{8E471121-029D-9BE0-FC07-A18B940AF679}"/>
                </a:ext>
              </a:extLst>
            </p:cNvPr>
            <p:cNvSpPr/>
            <p:nvPr/>
          </p:nvSpPr>
          <p:spPr>
            <a:xfrm rot="5400000">
              <a:off x="5494125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FF6F998E-6B60-69C1-7098-22B802BDD861}"/>
                </a:ext>
              </a:extLst>
            </p:cNvPr>
            <p:cNvSpPr/>
            <p:nvPr/>
          </p:nvSpPr>
          <p:spPr>
            <a:xfrm>
              <a:off x="5858456" y="3900069"/>
              <a:ext cx="190500" cy="190500"/>
            </a:xfrm>
            <a:prstGeom prst="ellipse">
              <a:avLst/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20" name="Circle: Hollow 46">
              <a:extLst>
                <a:ext uri="{FF2B5EF4-FFF2-40B4-BE49-F238E27FC236}">
                  <a16:creationId xmlns:a16="http://schemas.microsoft.com/office/drawing/2014/main" id="{53B2A11A-92A3-9B42-3103-5B7A698097C6}"/>
                </a:ext>
              </a:extLst>
            </p:cNvPr>
            <p:cNvSpPr/>
            <p:nvPr/>
          </p:nvSpPr>
          <p:spPr>
            <a:xfrm>
              <a:off x="5739393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321" name="Circle: Hollow 47">
              <a:extLst>
                <a:ext uri="{FF2B5EF4-FFF2-40B4-BE49-F238E27FC236}">
                  <a16:creationId xmlns:a16="http://schemas.microsoft.com/office/drawing/2014/main" id="{A3F408CD-80BC-7A0E-9127-4705272FC12E}"/>
                </a:ext>
              </a:extLst>
            </p:cNvPr>
            <p:cNvSpPr/>
            <p:nvPr/>
          </p:nvSpPr>
          <p:spPr>
            <a:xfrm>
              <a:off x="5606521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DA71EAA3-DB81-4725-88D5-54DFA66574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3707" y="2614747"/>
              <a:ext cx="0" cy="1033387"/>
            </a:xfrm>
            <a:prstGeom prst="line">
              <a:avLst/>
            </a:prstGeom>
            <a:ln w="19050">
              <a:solidFill>
                <a:srgbClr val="3131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3B48D790-E0E6-B7E2-8E13-F4570DB59804}"/>
                </a:ext>
              </a:extLst>
            </p:cNvPr>
            <p:cNvSpPr/>
            <p:nvPr/>
          </p:nvSpPr>
          <p:spPr>
            <a:xfrm>
              <a:off x="5891586" y="2568391"/>
              <a:ext cx="124240" cy="124240"/>
            </a:xfrm>
            <a:prstGeom prst="ellipse">
              <a:avLst/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324" name="TextBox 323">
            <a:extLst>
              <a:ext uri="{FF2B5EF4-FFF2-40B4-BE49-F238E27FC236}">
                <a16:creationId xmlns:a16="http://schemas.microsoft.com/office/drawing/2014/main" id="{D5D1A542-43A1-6807-6E94-04EBD4708F55}"/>
              </a:ext>
            </a:extLst>
          </p:cNvPr>
          <p:cNvSpPr txBox="1"/>
          <p:nvPr/>
        </p:nvSpPr>
        <p:spPr>
          <a:xfrm>
            <a:off x="3504840" y="3702328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3131CC"/>
                </a:solidFill>
                <a:latin typeface="+mj-lt"/>
              </a:rPr>
              <a:t>2015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C967FA3D-2DAC-40B1-53BD-CD6F1D1520F3}"/>
              </a:ext>
            </a:extLst>
          </p:cNvPr>
          <p:cNvSpPr txBox="1"/>
          <p:nvPr/>
        </p:nvSpPr>
        <p:spPr>
          <a:xfrm>
            <a:off x="3126068" y="2222317"/>
            <a:ext cx="1482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Rabies re-emerges in Arequipa city </a:t>
            </a:r>
          </a:p>
        </p:txBody>
      </p: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6FACDF38-BA91-FD71-6D5A-F4908C9E4D8B}"/>
              </a:ext>
            </a:extLst>
          </p:cNvPr>
          <p:cNvGrpSpPr/>
          <p:nvPr/>
        </p:nvGrpSpPr>
        <p:grpSpPr>
          <a:xfrm>
            <a:off x="4702247" y="3228829"/>
            <a:ext cx="517029" cy="1090834"/>
            <a:chOff x="7716291" y="3535738"/>
            <a:chExt cx="919162" cy="1939261"/>
          </a:xfrm>
        </p:grpSpPr>
        <p:sp>
          <p:nvSpPr>
            <p:cNvPr id="327" name="Arc 326">
              <a:extLst>
                <a:ext uri="{FF2B5EF4-FFF2-40B4-BE49-F238E27FC236}">
                  <a16:creationId xmlns:a16="http://schemas.microsoft.com/office/drawing/2014/main" id="{1EAF4BD9-CDA7-8256-0C74-B13458C3FE0E}"/>
                </a:ext>
              </a:extLst>
            </p:cNvPr>
            <p:cNvSpPr/>
            <p:nvPr/>
          </p:nvSpPr>
          <p:spPr>
            <a:xfrm>
              <a:off x="7716291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rgbClr val="FF85FF"/>
                </a:solidFill>
              </a:endParaRPr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342F5D11-2138-2EE3-4F45-384EF39483B0}"/>
                </a:ext>
              </a:extLst>
            </p:cNvPr>
            <p:cNvSpPr/>
            <p:nvPr/>
          </p:nvSpPr>
          <p:spPr>
            <a:xfrm>
              <a:off x="8080622" y="3900069"/>
              <a:ext cx="190500" cy="190500"/>
            </a:xfrm>
            <a:prstGeom prst="ellipse">
              <a:avLst/>
            </a:prstGeom>
            <a:solidFill>
              <a:srgbClr val="FF8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rgbClr val="FF85FF"/>
                </a:solidFill>
              </a:endParaRPr>
            </a:p>
          </p:txBody>
        </p:sp>
        <p:sp>
          <p:nvSpPr>
            <p:cNvPr id="329" name="Circle: Hollow 55">
              <a:extLst>
                <a:ext uri="{FF2B5EF4-FFF2-40B4-BE49-F238E27FC236}">
                  <a16:creationId xmlns:a16="http://schemas.microsoft.com/office/drawing/2014/main" id="{5C49F881-07D1-524C-EA01-06C5089B4642}"/>
                </a:ext>
              </a:extLst>
            </p:cNvPr>
            <p:cNvSpPr/>
            <p:nvPr/>
          </p:nvSpPr>
          <p:spPr>
            <a:xfrm>
              <a:off x="7961559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FF8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rgbClr val="FF85FF"/>
                </a:solidFill>
              </a:endParaRPr>
            </a:p>
          </p:txBody>
        </p:sp>
        <p:sp>
          <p:nvSpPr>
            <p:cNvPr id="330" name="Circle: Hollow 56">
              <a:extLst>
                <a:ext uri="{FF2B5EF4-FFF2-40B4-BE49-F238E27FC236}">
                  <a16:creationId xmlns:a16="http://schemas.microsoft.com/office/drawing/2014/main" id="{89CDEDCB-0E88-37FA-AFA5-A521AAD5DA89}"/>
                </a:ext>
              </a:extLst>
            </p:cNvPr>
            <p:cNvSpPr/>
            <p:nvPr/>
          </p:nvSpPr>
          <p:spPr>
            <a:xfrm>
              <a:off x="7828687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rgbClr val="FF85FF"/>
                </a:solidFill>
              </a:endParaRPr>
            </a:p>
          </p:txBody>
        </p: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3D03DF9E-84F5-1C9A-4F06-BD2592204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5873" y="4342505"/>
              <a:ext cx="0" cy="1033387"/>
            </a:xfrm>
            <a:prstGeom prst="line">
              <a:avLst/>
            </a:prstGeom>
            <a:ln w="19050">
              <a:solidFill>
                <a:srgbClr val="FF85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F44CFB95-DCE3-52A1-255C-4E8FD1D44C20}"/>
                </a:ext>
              </a:extLst>
            </p:cNvPr>
            <p:cNvSpPr/>
            <p:nvPr/>
          </p:nvSpPr>
          <p:spPr>
            <a:xfrm>
              <a:off x="8113752" y="5350759"/>
              <a:ext cx="124240" cy="12424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rgbClr val="FF85FF"/>
                </a:solidFill>
              </a:endParaRPr>
            </a:p>
          </p:txBody>
        </p:sp>
      </p:grpSp>
      <p:sp>
        <p:nvSpPr>
          <p:cNvPr id="333" name="TextBox 332">
            <a:extLst>
              <a:ext uri="{FF2B5EF4-FFF2-40B4-BE49-F238E27FC236}">
                <a16:creationId xmlns:a16="http://schemas.microsoft.com/office/drawing/2014/main" id="{B1E0AC35-5ECA-ABEA-CEDD-E11081BCD229}"/>
              </a:ext>
            </a:extLst>
          </p:cNvPr>
          <p:cNvSpPr txBox="1"/>
          <p:nvPr/>
        </p:nvSpPr>
        <p:spPr>
          <a:xfrm>
            <a:off x="4493031" y="2906005"/>
            <a:ext cx="1170062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FF85FF"/>
                </a:solidFill>
                <a:latin typeface="+mj-lt"/>
              </a:rPr>
              <a:t>2021/22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E58E1697-5687-B164-77E6-7D1217617C36}"/>
              </a:ext>
            </a:extLst>
          </p:cNvPr>
          <p:cNvSpPr txBox="1"/>
          <p:nvPr/>
        </p:nvSpPr>
        <p:spPr>
          <a:xfrm>
            <a:off x="4429658" y="4302478"/>
            <a:ext cx="1062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Rabies outbreaks in El Pedregal</a:t>
            </a:r>
          </a:p>
        </p:txBody>
      </p: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75E8AC99-9A11-5BF6-FCAD-44F734DC20C7}"/>
              </a:ext>
            </a:extLst>
          </p:cNvPr>
          <p:cNvCxnSpPr>
            <a:cxnSpLocks/>
          </p:cNvCxnSpPr>
          <p:nvPr/>
        </p:nvCxnSpPr>
        <p:spPr>
          <a:xfrm flipV="1">
            <a:off x="334357" y="4930261"/>
            <a:ext cx="995954" cy="2958"/>
          </a:xfrm>
          <a:prstGeom prst="line">
            <a:avLst/>
          </a:prstGeom>
          <a:ln w="19050">
            <a:solidFill>
              <a:srgbClr val="4F9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F03A1E9C-86AA-85ED-F7F7-8C444C40DE16}"/>
              </a:ext>
            </a:extLst>
          </p:cNvPr>
          <p:cNvCxnSpPr>
            <a:cxnSpLocks/>
          </p:cNvCxnSpPr>
          <p:nvPr/>
        </p:nvCxnSpPr>
        <p:spPr>
          <a:xfrm>
            <a:off x="2309666" y="4941093"/>
            <a:ext cx="997839" cy="0"/>
          </a:xfrm>
          <a:prstGeom prst="line">
            <a:avLst/>
          </a:prstGeom>
          <a:ln w="19050">
            <a:solidFill>
              <a:srgbClr val="EE38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DB39ECD4-24E0-F11C-C392-184BD7E4F0C8}"/>
              </a:ext>
            </a:extLst>
          </p:cNvPr>
          <p:cNvCxnSpPr>
            <a:cxnSpLocks/>
          </p:cNvCxnSpPr>
          <p:nvPr/>
        </p:nvCxnSpPr>
        <p:spPr>
          <a:xfrm>
            <a:off x="4461840" y="4951925"/>
            <a:ext cx="997839" cy="0"/>
          </a:xfrm>
          <a:prstGeom prst="line">
            <a:avLst/>
          </a:prstGeom>
          <a:ln w="19050">
            <a:solidFill>
              <a:srgbClr val="FF85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869B1FC8-1F05-DAAF-C8F9-5BBBE4EA86E9}"/>
              </a:ext>
            </a:extLst>
          </p:cNvPr>
          <p:cNvCxnSpPr>
            <a:cxnSpLocks/>
          </p:cNvCxnSpPr>
          <p:nvPr/>
        </p:nvCxnSpPr>
        <p:spPr>
          <a:xfrm>
            <a:off x="1275580" y="2121772"/>
            <a:ext cx="997839" cy="0"/>
          </a:xfrm>
          <a:prstGeom prst="line">
            <a:avLst/>
          </a:prstGeom>
          <a:ln w="19050">
            <a:solidFill>
              <a:srgbClr val="EE95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92CDF3E5-9927-AFB3-7161-D1B38F936A04}"/>
              </a:ext>
            </a:extLst>
          </p:cNvPr>
          <p:cNvCxnSpPr>
            <a:cxnSpLocks/>
          </p:cNvCxnSpPr>
          <p:nvPr/>
        </p:nvCxnSpPr>
        <p:spPr>
          <a:xfrm>
            <a:off x="3376031" y="2121772"/>
            <a:ext cx="997839" cy="0"/>
          </a:xfrm>
          <a:prstGeom prst="line">
            <a:avLst/>
          </a:prstGeom>
          <a:ln w="19050">
            <a:solidFill>
              <a:srgbClr val="3131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TextBox 339">
            <a:extLst>
              <a:ext uri="{FF2B5EF4-FFF2-40B4-BE49-F238E27FC236}">
                <a16:creationId xmlns:a16="http://schemas.microsoft.com/office/drawing/2014/main" id="{C5C9B526-FB41-4B8A-6999-80CCA4BEFA7D}"/>
              </a:ext>
            </a:extLst>
          </p:cNvPr>
          <p:cNvSpPr txBox="1"/>
          <p:nvPr/>
        </p:nvSpPr>
        <p:spPr>
          <a:xfrm>
            <a:off x="189722" y="4301797"/>
            <a:ext cx="1287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Last detected case in Arequipa city and Region</a:t>
            </a:r>
          </a:p>
        </p:txBody>
      </p: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B04C09B5-26BF-81C2-A37F-B78D257DFAA6}"/>
              </a:ext>
            </a:extLst>
          </p:cNvPr>
          <p:cNvGrpSpPr/>
          <p:nvPr/>
        </p:nvGrpSpPr>
        <p:grpSpPr>
          <a:xfrm>
            <a:off x="5760739" y="2685938"/>
            <a:ext cx="517029" cy="1061161"/>
            <a:chOff x="5267125" y="6580729"/>
            <a:chExt cx="517029" cy="1061161"/>
          </a:xfrm>
        </p:grpSpPr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B339FB06-7F51-ED33-806D-04EB1128568E}"/>
                </a:ext>
              </a:extLst>
            </p:cNvPr>
            <p:cNvSpPr/>
            <p:nvPr/>
          </p:nvSpPr>
          <p:spPr>
            <a:xfrm>
              <a:off x="5475090" y="7329797"/>
              <a:ext cx="107156" cy="107156"/>
            </a:xfrm>
            <a:prstGeom prst="ellipse">
              <a:avLst/>
            </a:prstGeom>
            <a:solidFill>
              <a:srgbClr val="714A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43" name="Arc 342">
              <a:extLst>
                <a:ext uri="{FF2B5EF4-FFF2-40B4-BE49-F238E27FC236}">
                  <a16:creationId xmlns:a16="http://schemas.microsoft.com/office/drawing/2014/main" id="{92826E1B-B6FC-290C-CB83-D3B4F914E939}"/>
                </a:ext>
              </a:extLst>
            </p:cNvPr>
            <p:cNvSpPr/>
            <p:nvPr/>
          </p:nvSpPr>
          <p:spPr>
            <a:xfrm rot="5400000">
              <a:off x="5267126" y="7124861"/>
              <a:ext cx="517028" cy="517029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344" name="Circle: Hollow 46">
              <a:extLst>
                <a:ext uri="{FF2B5EF4-FFF2-40B4-BE49-F238E27FC236}">
                  <a16:creationId xmlns:a16="http://schemas.microsoft.com/office/drawing/2014/main" id="{D77E51B4-4B16-D021-4C77-D485E8B70B08}"/>
                </a:ext>
              </a:extLst>
            </p:cNvPr>
            <p:cNvSpPr/>
            <p:nvPr/>
          </p:nvSpPr>
          <p:spPr>
            <a:xfrm>
              <a:off x="5405089" y="7262825"/>
              <a:ext cx="241102" cy="241102"/>
            </a:xfrm>
            <a:prstGeom prst="donut">
              <a:avLst>
                <a:gd name="adj" fmla="val 5281"/>
              </a:avLst>
            </a:prstGeom>
            <a:solidFill>
              <a:srgbClr val="714AAC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345" name="Circle: Hollow 47">
              <a:extLst>
                <a:ext uri="{FF2B5EF4-FFF2-40B4-BE49-F238E27FC236}">
                  <a16:creationId xmlns:a16="http://schemas.microsoft.com/office/drawing/2014/main" id="{F574945D-783B-EA33-B521-5E1D4CA193C6}"/>
                </a:ext>
              </a:extLst>
            </p:cNvPr>
            <p:cNvSpPr/>
            <p:nvPr/>
          </p:nvSpPr>
          <p:spPr>
            <a:xfrm>
              <a:off x="5330349" y="7188084"/>
              <a:ext cx="390583" cy="390583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D0AB07D2-A2D5-6913-E008-9DE29F4926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5641" y="6606804"/>
              <a:ext cx="0" cy="581280"/>
            </a:xfrm>
            <a:prstGeom prst="line">
              <a:avLst/>
            </a:prstGeom>
            <a:ln w="19050">
              <a:solidFill>
                <a:srgbClr val="714A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DA6421E6-0C9D-37C1-775D-3A8026C892E8}"/>
                </a:ext>
              </a:extLst>
            </p:cNvPr>
            <p:cNvSpPr/>
            <p:nvPr/>
          </p:nvSpPr>
          <p:spPr>
            <a:xfrm>
              <a:off x="5490698" y="6580729"/>
              <a:ext cx="69885" cy="69885"/>
            </a:xfrm>
            <a:prstGeom prst="ellipse">
              <a:avLst/>
            </a:prstGeom>
            <a:solidFill>
              <a:srgbClr val="714AAC"/>
            </a:solidFill>
            <a:ln>
              <a:solidFill>
                <a:srgbClr val="6C3B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348" name="TextBox 347">
            <a:extLst>
              <a:ext uri="{FF2B5EF4-FFF2-40B4-BE49-F238E27FC236}">
                <a16:creationId xmlns:a16="http://schemas.microsoft.com/office/drawing/2014/main" id="{8E246B5B-6A8F-8C78-4885-F79ED26D94D6}"/>
              </a:ext>
            </a:extLst>
          </p:cNvPr>
          <p:cNvSpPr txBox="1"/>
          <p:nvPr/>
        </p:nvSpPr>
        <p:spPr>
          <a:xfrm>
            <a:off x="5593051" y="3702328"/>
            <a:ext cx="85240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25" dirty="0">
                <a:solidFill>
                  <a:srgbClr val="714AAC"/>
                </a:solidFill>
                <a:latin typeface="+mj-lt"/>
              </a:rPr>
              <a:t>2025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DCA0BCE3-F86C-E329-26C1-307443016D1E}"/>
              </a:ext>
            </a:extLst>
          </p:cNvPr>
          <p:cNvSpPr txBox="1"/>
          <p:nvPr/>
        </p:nvSpPr>
        <p:spPr>
          <a:xfrm>
            <a:off x="5237794" y="2197248"/>
            <a:ext cx="146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Rabies persistence in Arequipa City</a:t>
            </a:r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975AC131-6D6B-5EE5-2302-2104800DE8E7}"/>
              </a:ext>
            </a:extLst>
          </p:cNvPr>
          <p:cNvCxnSpPr>
            <a:cxnSpLocks/>
          </p:cNvCxnSpPr>
          <p:nvPr/>
        </p:nvCxnSpPr>
        <p:spPr>
          <a:xfrm>
            <a:off x="5511388" y="2121058"/>
            <a:ext cx="997839" cy="0"/>
          </a:xfrm>
          <a:prstGeom prst="line">
            <a:avLst/>
          </a:prstGeom>
          <a:ln w="19050">
            <a:solidFill>
              <a:srgbClr val="714A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DA19E6E4-DFDE-5AC5-4834-4D21D3028EB2}"/>
              </a:ext>
            </a:extLst>
          </p:cNvPr>
          <p:cNvCxnSpPr>
            <a:cxnSpLocks/>
          </p:cNvCxnSpPr>
          <p:nvPr/>
        </p:nvCxnSpPr>
        <p:spPr>
          <a:xfrm flipV="1">
            <a:off x="2434356" y="4947557"/>
            <a:ext cx="402745" cy="3615872"/>
          </a:xfrm>
          <a:prstGeom prst="line">
            <a:avLst/>
          </a:prstGeom>
          <a:ln w="12700">
            <a:solidFill>
              <a:srgbClr val="EE383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Rectangle 354">
            <a:extLst>
              <a:ext uri="{FF2B5EF4-FFF2-40B4-BE49-F238E27FC236}">
                <a16:creationId xmlns:a16="http://schemas.microsoft.com/office/drawing/2014/main" id="{F8A3BA9F-8A3A-20E2-0A37-D01DAF5D6D4B}"/>
              </a:ext>
            </a:extLst>
          </p:cNvPr>
          <p:cNvSpPr/>
          <p:nvPr/>
        </p:nvSpPr>
        <p:spPr>
          <a:xfrm>
            <a:off x="196946" y="1248760"/>
            <a:ext cx="6487427" cy="38698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8422CB7-2DAC-AC7C-922D-2F6A11D975E2}"/>
              </a:ext>
            </a:extLst>
          </p:cNvPr>
          <p:cNvCxnSpPr>
            <a:cxnSpLocks/>
          </p:cNvCxnSpPr>
          <p:nvPr/>
        </p:nvCxnSpPr>
        <p:spPr>
          <a:xfrm flipV="1">
            <a:off x="3420740" y="4012724"/>
            <a:ext cx="497912" cy="4366313"/>
          </a:xfrm>
          <a:prstGeom prst="line">
            <a:avLst/>
          </a:prstGeom>
          <a:ln w="12700">
            <a:solidFill>
              <a:srgbClr val="3131C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9710A75-A039-C529-3A81-26F43963481E}"/>
              </a:ext>
            </a:extLst>
          </p:cNvPr>
          <p:cNvSpPr txBox="1"/>
          <p:nvPr/>
        </p:nvSpPr>
        <p:spPr>
          <a:xfrm>
            <a:off x="4030476" y="1422931"/>
            <a:ext cx="2510451" cy="523220"/>
          </a:xfrm>
          <a:prstGeom prst="rect">
            <a:avLst/>
          </a:prstGeom>
          <a:solidFill>
            <a:schemeClr val="bg1">
              <a:alpha val="6392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Rabies re-emergence and persistence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A9955B-7A72-6797-BD6B-7018F3AFDCC3}"/>
              </a:ext>
            </a:extLst>
          </p:cNvPr>
          <p:cNvSpPr txBox="1"/>
          <p:nvPr/>
        </p:nvSpPr>
        <p:spPr>
          <a:xfrm>
            <a:off x="476624" y="1424450"/>
            <a:ext cx="3205407" cy="523220"/>
          </a:xfrm>
          <a:prstGeom prst="rect">
            <a:avLst/>
          </a:prstGeom>
          <a:solidFill>
            <a:srgbClr val="F2F2F2">
              <a:alpha val="58431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16 years of epidemiological silence in Arequipa city</a:t>
            </a:r>
          </a:p>
        </p:txBody>
      </p:sp>
    </p:spTree>
    <p:extLst>
      <p:ext uri="{BB962C8B-B14F-4D97-AF65-F5344CB8AC3E}">
        <p14:creationId xmlns:p14="http://schemas.microsoft.com/office/powerpoint/2010/main" val="606094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EE158-B63C-D586-C35A-8DAD7FE45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02F18AE6-66B5-0128-17FD-16B40AB24F0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42009" y="4868633"/>
            <a:ext cx="3950208" cy="29364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776836-30F4-9BC4-5AC1-E19E6CC96EBA}"/>
              </a:ext>
            </a:extLst>
          </p:cNvPr>
          <p:cNvSpPr/>
          <p:nvPr/>
        </p:nvSpPr>
        <p:spPr>
          <a:xfrm>
            <a:off x="203541" y="1248761"/>
            <a:ext cx="3695605" cy="35112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B094703-BACA-947C-5FDF-EEF699AA4333}"/>
              </a:ext>
            </a:extLst>
          </p:cNvPr>
          <p:cNvSpPr/>
          <p:nvPr/>
        </p:nvSpPr>
        <p:spPr>
          <a:xfrm>
            <a:off x="196144" y="4757411"/>
            <a:ext cx="6487427" cy="3068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31F778C3-B758-9247-5E99-56DA63732017}"/>
              </a:ext>
            </a:extLst>
          </p:cNvPr>
          <p:cNvCxnSpPr/>
          <p:nvPr/>
        </p:nvCxnSpPr>
        <p:spPr>
          <a:xfrm>
            <a:off x="2985316" y="3187301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EF9E6A80-405C-E966-CD75-90493C3226E8}"/>
              </a:ext>
            </a:extLst>
          </p:cNvPr>
          <p:cNvCxnSpPr/>
          <p:nvPr/>
        </p:nvCxnSpPr>
        <p:spPr>
          <a:xfrm>
            <a:off x="4244149" y="3187301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07DE6576-17D1-2100-3890-60FCA1D3762E}"/>
              </a:ext>
            </a:extLst>
          </p:cNvPr>
          <p:cNvCxnSpPr>
            <a:cxnSpLocks/>
          </p:cNvCxnSpPr>
          <p:nvPr/>
        </p:nvCxnSpPr>
        <p:spPr>
          <a:xfrm flipV="1">
            <a:off x="5511389" y="3187300"/>
            <a:ext cx="1144486" cy="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232FD923-555C-1E05-9A81-D8AC50036962}"/>
              </a:ext>
            </a:extLst>
          </p:cNvPr>
          <p:cNvCxnSpPr/>
          <p:nvPr/>
        </p:nvCxnSpPr>
        <p:spPr>
          <a:xfrm>
            <a:off x="1711957" y="3187301"/>
            <a:ext cx="1267239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E0B690AC-68C5-E6B2-5165-19A8464057EA}"/>
              </a:ext>
            </a:extLst>
          </p:cNvPr>
          <p:cNvCxnSpPr>
            <a:cxnSpLocks/>
            <a:stCxn id="165" idx="6"/>
          </p:cNvCxnSpPr>
          <p:nvPr/>
        </p:nvCxnSpPr>
        <p:spPr>
          <a:xfrm>
            <a:off x="985309" y="3187301"/>
            <a:ext cx="141804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F0745ABF-BB10-F57A-FA55-3D2F959E729B}"/>
              </a:ext>
            </a:extLst>
          </p:cNvPr>
          <p:cNvCxnSpPr>
            <a:cxnSpLocks/>
          </p:cNvCxnSpPr>
          <p:nvPr/>
        </p:nvCxnSpPr>
        <p:spPr>
          <a:xfrm>
            <a:off x="203543" y="3187301"/>
            <a:ext cx="546163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Arc 160">
            <a:extLst>
              <a:ext uri="{FF2B5EF4-FFF2-40B4-BE49-F238E27FC236}">
                <a16:creationId xmlns:a16="http://schemas.microsoft.com/office/drawing/2014/main" id="{088FAC7E-780F-2921-CEB9-C3D64F6868DE}"/>
              </a:ext>
            </a:extLst>
          </p:cNvPr>
          <p:cNvSpPr/>
          <p:nvPr/>
        </p:nvSpPr>
        <p:spPr>
          <a:xfrm>
            <a:off x="531502" y="2928786"/>
            <a:ext cx="517029" cy="517029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777ABD1-176B-2D9A-EF5B-BFBAC3A801C4}"/>
              </a:ext>
            </a:extLst>
          </p:cNvPr>
          <p:cNvGrpSpPr/>
          <p:nvPr/>
        </p:nvGrpSpPr>
        <p:grpSpPr>
          <a:xfrm>
            <a:off x="594725" y="2992009"/>
            <a:ext cx="390583" cy="1027612"/>
            <a:chOff x="695435" y="3648134"/>
            <a:chExt cx="694370" cy="1826865"/>
          </a:xfrm>
        </p:grpSpPr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8DF25A07-E448-79C6-B5C8-288DE1DC418F}"/>
                </a:ext>
              </a:extLst>
            </p:cNvPr>
            <p:cNvSpPr/>
            <p:nvPr/>
          </p:nvSpPr>
          <p:spPr>
            <a:xfrm>
              <a:off x="947370" y="3900069"/>
              <a:ext cx="190500" cy="190500"/>
            </a:xfrm>
            <a:prstGeom prst="ellipse">
              <a:avLst/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164" name="Circle: Hollow 8">
              <a:extLst>
                <a:ext uri="{FF2B5EF4-FFF2-40B4-BE49-F238E27FC236}">
                  <a16:creationId xmlns:a16="http://schemas.microsoft.com/office/drawing/2014/main" id="{84BC6136-2FF5-7A72-C010-1C9545663CEB}"/>
                </a:ext>
              </a:extLst>
            </p:cNvPr>
            <p:cNvSpPr/>
            <p:nvPr/>
          </p:nvSpPr>
          <p:spPr>
            <a:xfrm>
              <a:off x="828307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165" name="Circle: Hollow 9">
              <a:extLst>
                <a:ext uri="{FF2B5EF4-FFF2-40B4-BE49-F238E27FC236}">
                  <a16:creationId xmlns:a16="http://schemas.microsoft.com/office/drawing/2014/main" id="{A34535C9-BFCB-FC6C-D4D5-AFEE53AF138E}"/>
                </a:ext>
              </a:extLst>
            </p:cNvPr>
            <p:cNvSpPr/>
            <p:nvPr/>
          </p:nvSpPr>
          <p:spPr>
            <a:xfrm>
              <a:off x="695435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FB8F093-EB5F-C551-B97A-C2B01C9F4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621" y="4342505"/>
              <a:ext cx="0" cy="1033387"/>
            </a:xfrm>
            <a:prstGeom prst="line">
              <a:avLst/>
            </a:prstGeom>
            <a:ln w="19050">
              <a:solidFill>
                <a:srgbClr val="4F9EE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8B8C7AB4-35BD-C06A-6574-F5AA8987E740}"/>
                </a:ext>
              </a:extLst>
            </p:cNvPr>
            <p:cNvSpPr/>
            <p:nvPr/>
          </p:nvSpPr>
          <p:spPr>
            <a:xfrm>
              <a:off x="980500" y="5350759"/>
              <a:ext cx="124240" cy="124240"/>
            </a:xfrm>
            <a:prstGeom prst="ellipse">
              <a:avLst/>
            </a:prstGeom>
            <a:solidFill>
              <a:srgbClr val="4F9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40D24FD0-7D6B-1652-D4F5-5A8F2A68417E}"/>
              </a:ext>
            </a:extLst>
          </p:cNvPr>
          <p:cNvSpPr txBox="1"/>
          <p:nvPr/>
        </p:nvSpPr>
        <p:spPr>
          <a:xfrm>
            <a:off x="363814" y="2605963"/>
            <a:ext cx="85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4F9EEC"/>
                </a:solidFill>
                <a:latin typeface="+mj-lt"/>
              </a:rPr>
              <a:t>1999</a:t>
            </a: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F5253E48-9CFB-AF06-C7F6-72D0DD87DA27}"/>
              </a:ext>
            </a:extLst>
          </p:cNvPr>
          <p:cNvGrpSpPr/>
          <p:nvPr/>
        </p:nvGrpSpPr>
        <p:grpSpPr>
          <a:xfrm>
            <a:off x="1526771" y="2384654"/>
            <a:ext cx="517029" cy="1061161"/>
            <a:chOff x="2301254" y="2568391"/>
            <a:chExt cx="919162" cy="1886509"/>
          </a:xfrm>
        </p:grpSpPr>
        <p:sp>
          <p:nvSpPr>
            <p:cNvPr id="170" name="Arc 169">
              <a:extLst>
                <a:ext uri="{FF2B5EF4-FFF2-40B4-BE49-F238E27FC236}">
                  <a16:creationId xmlns:a16="http://schemas.microsoft.com/office/drawing/2014/main" id="{5E60C72E-889E-731F-3719-C8DA2C1DC889}"/>
                </a:ext>
              </a:extLst>
            </p:cNvPr>
            <p:cNvSpPr/>
            <p:nvPr/>
          </p:nvSpPr>
          <p:spPr>
            <a:xfrm rot="5400000">
              <a:off x="2301254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195E54EB-7A2D-2472-22C2-0F6AB73197DB}"/>
                </a:ext>
              </a:extLst>
            </p:cNvPr>
            <p:cNvSpPr/>
            <p:nvPr/>
          </p:nvSpPr>
          <p:spPr>
            <a:xfrm>
              <a:off x="2665585" y="3900069"/>
              <a:ext cx="190500" cy="19050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172" name="Circle: Hollow 20">
              <a:extLst>
                <a:ext uri="{FF2B5EF4-FFF2-40B4-BE49-F238E27FC236}">
                  <a16:creationId xmlns:a16="http://schemas.microsoft.com/office/drawing/2014/main" id="{83B09566-8CA2-8330-FBAE-ED1F0A25FEBC}"/>
                </a:ext>
              </a:extLst>
            </p:cNvPr>
            <p:cNvSpPr/>
            <p:nvPr/>
          </p:nvSpPr>
          <p:spPr>
            <a:xfrm>
              <a:off x="2546522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173" name="Circle: Hollow 21">
              <a:extLst>
                <a:ext uri="{FF2B5EF4-FFF2-40B4-BE49-F238E27FC236}">
                  <a16:creationId xmlns:a16="http://schemas.microsoft.com/office/drawing/2014/main" id="{1D928930-4740-AF9D-FD58-124C5C27F98F}"/>
                </a:ext>
              </a:extLst>
            </p:cNvPr>
            <p:cNvSpPr/>
            <p:nvPr/>
          </p:nvSpPr>
          <p:spPr>
            <a:xfrm>
              <a:off x="2413650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279307F-C0B2-2D7D-4A55-E8E7589679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0836" y="2614747"/>
              <a:ext cx="0" cy="1033387"/>
            </a:xfrm>
            <a:prstGeom prst="line">
              <a:avLst/>
            </a:prstGeom>
            <a:ln w="19050">
              <a:solidFill>
                <a:srgbClr val="EE95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1C2A1877-627F-DEFA-2C90-0F8B6119EA56}"/>
                </a:ext>
              </a:extLst>
            </p:cNvPr>
            <p:cNvSpPr/>
            <p:nvPr/>
          </p:nvSpPr>
          <p:spPr>
            <a:xfrm>
              <a:off x="2698715" y="2568391"/>
              <a:ext cx="124240" cy="124240"/>
            </a:xfrm>
            <a:prstGeom prst="ellipse">
              <a:avLst/>
            </a:prstGeom>
            <a:solidFill>
              <a:srgbClr val="EE95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060FEA44-1D62-6F0D-4F2B-8E428A693AB7}"/>
              </a:ext>
            </a:extLst>
          </p:cNvPr>
          <p:cNvSpPr txBox="1"/>
          <p:nvPr/>
        </p:nvSpPr>
        <p:spPr>
          <a:xfrm>
            <a:off x="1330310" y="3402286"/>
            <a:ext cx="85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EE9524"/>
                </a:solidFill>
                <a:latin typeface="+mj-lt"/>
              </a:rPr>
              <a:t>2013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D75DC7E1-72B3-B219-DF22-8DC2F04BCC1D}"/>
              </a:ext>
            </a:extLst>
          </p:cNvPr>
          <p:cNvSpPr txBox="1"/>
          <p:nvPr/>
        </p:nvSpPr>
        <p:spPr>
          <a:xfrm>
            <a:off x="974523" y="1893034"/>
            <a:ext cx="1599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REDIPRA 14 declares Arequipa rabies-free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29F5AFC0-AB97-7CD9-2BDD-DBED491B5A81}"/>
              </a:ext>
            </a:extLst>
          </p:cNvPr>
          <p:cNvGrpSpPr/>
          <p:nvPr/>
        </p:nvGrpSpPr>
        <p:grpSpPr>
          <a:xfrm>
            <a:off x="2585263" y="2928787"/>
            <a:ext cx="517029" cy="1090834"/>
            <a:chOff x="3671809" y="3535738"/>
            <a:chExt cx="919162" cy="1939261"/>
          </a:xfrm>
        </p:grpSpPr>
        <p:sp>
          <p:nvSpPr>
            <p:cNvPr id="179" name="Arc 178">
              <a:extLst>
                <a:ext uri="{FF2B5EF4-FFF2-40B4-BE49-F238E27FC236}">
                  <a16:creationId xmlns:a16="http://schemas.microsoft.com/office/drawing/2014/main" id="{FD1D440E-43D4-63FC-A3F7-424E6E315CA0}"/>
                </a:ext>
              </a:extLst>
            </p:cNvPr>
            <p:cNvSpPr/>
            <p:nvPr/>
          </p:nvSpPr>
          <p:spPr>
            <a:xfrm>
              <a:off x="3671809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79610D3E-E83D-3740-6FDD-B50B60173024}"/>
                </a:ext>
              </a:extLst>
            </p:cNvPr>
            <p:cNvSpPr/>
            <p:nvPr/>
          </p:nvSpPr>
          <p:spPr>
            <a:xfrm>
              <a:off x="4036140" y="3900069"/>
              <a:ext cx="190500" cy="190500"/>
            </a:xfrm>
            <a:prstGeom prst="ellipse">
              <a:avLst/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181" name="Circle: Hollow 29">
              <a:extLst>
                <a:ext uri="{FF2B5EF4-FFF2-40B4-BE49-F238E27FC236}">
                  <a16:creationId xmlns:a16="http://schemas.microsoft.com/office/drawing/2014/main" id="{C24FF618-0A1F-8455-EBF3-A6EED095620D}"/>
                </a:ext>
              </a:extLst>
            </p:cNvPr>
            <p:cNvSpPr/>
            <p:nvPr/>
          </p:nvSpPr>
          <p:spPr>
            <a:xfrm>
              <a:off x="3917077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182" name="Circle: Hollow 30">
              <a:extLst>
                <a:ext uri="{FF2B5EF4-FFF2-40B4-BE49-F238E27FC236}">
                  <a16:creationId xmlns:a16="http://schemas.microsoft.com/office/drawing/2014/main" id="{AB9667F4-512B-734A-A6C9-B5E7FEAC5A8B}"/>
                </a:ext>
              </a:extLst>
            </p:cNvPr>
            <p:cNvSpPr/>
            <p:nvPr/>
          </p:nvSpPr>
          <p:spPr>
            <a:xfrm>
              <a:off x="3784205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3442F26E-0137-5079-9CDD-921888F31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1391" y="4342505"/>
              <a:ext cx="0" cy="1033387"/>
            </a:xfrm>
            <a:prstGeom prst="line">
              <a:avLst/>
            </a:prstGeom>
            <a:ln w="19050">
              <a:solidFill>
                <a:srgbClr val="EE383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52233813-28D2-1F7B-4893-5F157A841CAB}"/>
                </a:ext>
              </a:extLst>
            </p:cNvPr>
            <p:cNvSpPr/>
            <p:nvPr/>
          </p:nvSpPr>
          <p:spPr>
            <a:xfrm>
              <a:off x="4069270" y="5350759"/>
              <a:ext cx="124240" cy="124240"/>
            </a:xfrm>
            <a:prstGeom prst="ellipse">
              <a:avLst/>
            </a:prstGeom>
            <a:solidFill>
              <a:srgbClr val="EE3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185" name="TextBox 184">
            <a:extLst>
              <a:ext uri="{FF2B5EF4-FFF2-40B4-BE49-F238E27FC236}">
                <a16:creationId xmlns:a16="http://schemas.microsoft.com/office/drawing/2014/main" id="{CF7E3130-241B-9527-D13F-AB96EF60B8F8}"/>
              </a:ext>
            </a:extLst>
          </p:cNvPr>
          <p:cNvSpPr txBox="1"/>
          <p:nvPr/>
        </p:nvSpPr>
        <p:spPr>
          <a:xfrm>
            <a:off x="2410899" y="2605963"/>
            <a:ext cx="85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EE3837"/>
                </a:solidFill>
                <a:latin typeface="+mj-lt"/>
              </a:rPr>
              <a:t>2014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6F898EE6-8CE1-5717-95E5-3545F2324704}"/>
              </a:ext>
            </a:extLst>
          </p:cNvPr>
          <p:cNvSpPr txBox="1"/>
          <p:nvPr/>
        </p:nvSpPr>
        <p:spPr>
          <a:xfrm>
            <a:off x="2193542" y="4001184"/>
            <a:ext cx="1287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Two canine rabies cases in Camaná</a:t>
            </a: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23F248B7-70CF-A93E-CB46-DB170E058A6D}"/>
              </a:ext>
            </a:extLst>
          </p:cNvPr>
          <p:cNvGrpSpPr/>
          <p:nvPr/>
        </p:nvGrpSpPr>
        <p:grpSpPr>
          <a:xfrm>
            <a:off x="3643755" y="2384654"/>
            <a:ext cx="517029" cy="1061161"/>
            <a:chOff x="5494125" y="2568391"/>
            <a:chExt cx="919162" cy="1886509"/>
          </a:xfrm>
        </p:grpSpPr>
        <p:sp>
          <p:nvSpPr>
            <p:cNvPr id="188" name="Arc 187">
              <a:extLst>
                <a:ext uri="{FF2B5EF4-FFF2-40B4-BE49-F238E27FC236}">
                  <a16:creationId xmlns:a16="http://schemas.microsoft.com/office/drawing/2014/main" id="{FBA9DD29-469C-2ED7-581D-AAA399FAB881}"/>
                </a:ext>
              </a:extLst>
            </p:cNvPr>
            <p:cNvSpPr/>
            <p:nvPr/>
          </p:nvSpPr>
          <p:spPr>
            <a:xfrm rot="5400000">
              <a:off x="5494125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88C72FBC-5863-F709-0B2A-14C44F83F814}"/>
                </a:ext>
              </a:extLst>
            </p:cNvPr>
            <p:cNvSpPr/>
            <p:nvPr/>
          </p:nvSpPr>
          <p:spPr>
            <a:xfrm>
              <a:off x="5858456" y="3900069"/>
              <a:ext cx="190500" cy="190500"/>
            </a:xfrm>
            <a:prstGeom prst="ellipse">
              <a:avLst/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190" name="Circle: Hollow 46">
              <a:extLst>
                <a:ext uri="{FF2B5EF4-FFF2-40B4-BE49-F238E27FC236}">
                  <a16:creationId xmlns:a16="http://schemas.microsoft.com/office/drawing/2014/main" id="{CD6994F7-6AC4-88C6-E3C5-9DD0B9817CCC}"/>
                </a:ext>
              </a:extLst>
            </p:cNvPr>
            <p:cNvSpPr/>
            <p:nvPr/>
          </p:nvSpPr>
          <p:spPr>
            <a:xfrm>
              <a:off x="5739393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191" name="Circle: Hollow 47">
              <a:extLst>
                <a:ext uri="{FF2B5EF4-FFF2-40B4-BE49-F238E27FC236}">
                  <a16:creationId xmlns:a16="http://schemas.microsoft.com/office/drawing/2014/main" id="{5C3EED10-A6DA-1588-791F-11862F19730A}"/>
                </a:ext>
              </a:extLst>
            </p:cNvPr>
            <p:cNvSpPr/>
            <p:nvPr/>
          </p:nvSpPr>
          <p:spPr>
            <a:xfrm>
              <a:off x="5606521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DBF14CFE-D777-AA54-CD78-9DF101C81F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3707" y="2614747"/>
              <a:ext cx="0" cy="1033387"/>
            </a:xfrm>
            <a:prstGeom prst="line">
              <a:avLst/>
            </a:prstGeom>
            <a:ln w="19050">
              <a:solidFill>
                <a:srgbClr val="3131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E0258145-1EF3-E85F-47D1-9FB44B290B84}"/>
                </a:ext>
              </a:extLst>
            </p:cNvPr>
            <p:cNvSpPr/>
            <p:nvPr/>
          </p:nvSpPr>
          <p:spPr>
            <a:xfrm>
              <a:off x="5891586" y="2568391"/>
              <a:ext cx="124240" cy="124240"/>
            </a:xfrm>
            <a:prstGeom prst="ellipse">
              <a:avLst/>
            </a:prstGeom>
            <a:solidFill>
              <a:srgbClr val="3131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194" name="TextBox 193">
            <a:extLst>
              <a:ext uri="{FF2B5EF4-FFF2-40B4-BE49-F238E27FC236}">
                <a16:creationId xmlns:a16="http://schemas.microsoft.com/office/drawing/2014/main" id="{EE8F370A-C407-C96B-ED76-0BA830789E68}"/>
              </a:ext>
            </a:extLst>
          </p:cNvPr>
          <p:cNvSpPr txBox="1"/>
          <p:nvPr/>
        </p:nvSpPr>
        <p:spPr>
          <a:xfrm>
            <a:off x="3504840" y="3402286"/>
            <a:ext cx="85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3131CC"/>
                </a:solidFill>
                <a:latin typeface="+mj-lt"/>
              </a:rPr>
              <a:t>2015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BC08E90-A19C-B0BA-6764-2018BC07AB91}"/>
              </a:ext>
            </a:extLst>
          </p:cNvPr>
          <p:cNvSpPr txBox="1"/>
          <p:nvPr/>
        </p:nvSpPr>
        <p:spPr>
          <a:xfrm>
            <a:off x="3126068" y="1922275"/>
            <a:ext cx="1482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Rabies re-emerges in Arequipa city </a:t>
            </a: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A596D9EA-615B-EB1D-683A-5BFFBA0DD438}"/>
              </a:ext>
            </a:extLst>
          </p:cNvPr>
          <p:cNvGrpSpPr/>
          <p:nvPr/>
        </p:nvGrpSpPr>
        <p:grpSpPr>
          <a:xfrm>
            <a:off x="4702247" y="2928787"/>
            <a:ext cx="517029" cy="1090834"/>
            <a:chOff x="7716291" y="3535738"/>
            <a:chExt cx="919162" cy="1939261"/>
          </a:xfrm>
        </p:grpSpPr>
        <p:sp>
          <p:nvSpPr>
            <p:cNvPr id="197" name="Arc 196">
              <a:extLst>
                <a:ext uri="{FF2B5EF4-FFF2-40B4-BE49-F238E27FC236}">
                  <a16:creationId xmlns:a16="http://schemas.microsoft.com/office/drawing/2014/main" id="{1A25BD62-CC84-4B9A-9C9F-333831631B71}"/>
                </a:ext>
              </a:extLst>
            </p:cNvPr>
            <p:cNvSpPr/>
            <p:nvPr/>
          </p:nvSpPr>
          <p:spPr>
            <a:xfrm>
              <a:off x="7716291" y="3535738"/>
              <a:ext cx="919162" cy="919162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971E19CB-9ABF-1C41-539F-928ABF5A4571}"/>
                </a:ext>
              </a:extLst>
            </p:cNvPr>
            <p:cNvSpPr/>
            <p:nvPr/>
          </p:nvSpPr>
          <p:spPr>
            <a:xfrm>
              <a:off x="8080622" y="3900069"/>
              <a:ext cx="190500" cy="190500"/>
            </a:xfrm>
            <a:prstGeom prst="ellipse">
              <a:avLst/>
            </a:prstGeom>
            <a:solidFill>
              <a:srgbClr val="FF8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199" name="Circle: Hollow 55">
              <a:extLst>
                <a:ext uri="{FF2B5EF4-FFF2-40B4-BE49-F238E27FC236}">
                  <a16:creationId xmlns:a16="http://schemas.microsoft.com/office/drawing/2014/main" id="{449DF264-60AC-EFF7-CCE7-43CC0B2D429C}"/>
                </a:ext>
              </a:extLst>
            </p:cNvPr>
            <p:cNvSpPr/>
            <p:nvPr/>
          </p:nvSpPr>
          <p:spPr>
            <a:xfrm>
              <a:off x="7961559" y="3781006"/>
              <a:ext cx="428626" cy="428626"/>
            </a:xfrm>
            <a:prstGeom prst="donut">
              <a:avLst>
                <a:gd name="adj" fmla="val 5281"/>
              </a:avLst>
            </a:prstGeom>
            <a:solidFill>
              <a:srgbClr val="FF8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200" name="Circle: Hollow 56">
              <a:extLst>
                <a:ext uri="{FF2B5EF4-FFF2-40B4-BE49-F238E27FC236}">
                  <a16:creationId xmlns:a16="http://schemas.microsoft.com/office/drawing/2014/main" id="{0B328229-AE13-17B0-BD0F-87929235D9B0}"/>
                </a:ext>
              </a:extLst>
            </p:cNvPr>
            <p:cNvSpPr/>
            <p:nvPr/>
          </p:nvSpPr>
          <p:spPr>
            <a:xfrm>
              <a:off x="7828687" y="3648134"/>
              <a:ext cx="694370" cy="694370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49E18633-8D54-2AA7-4B1D-DF7BB67157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5873" y="4342505"/>
              <a:ext cx="0" cy="1033387"/>
            </a:xfrm>
            <a:prstGeom prst="line">
              <a:avLst/>
            </a:prstGeom>
            <a:solidFill>
              <a:srgbClr val="FF85FF"/>
            </a:solidFill>
            <a:ln w="19050">
              <a:solidFill>
                <a:srgbClr val="FF85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7FE6E3C8-11AD-E775-A8AE-3A889ABDB365}"/>
                </a:ext>
              </a:extLst>
            </p:cNvPr>
            <p:cNvSpPr/>
            <p:nvPr/>
          </p:nvSpPr>
          <p:spPr>
            <a:xfrm>
              <a:off x="8113752" y="5350759"/>
              <a:ext cx="124240" cy="124240"/>
            </a:xfrm>
            <a:prstGeom prst="ellipse">
              <a:avLst/>
            </a:prstGeom>
            <a:solidFill>
              <a:srgbClr val="FF8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F33C1A4A-9921-E155-11C3-079B59383ADA}"/>
              </a:ext>
            </a:extLst>
          </p:cNvPr>
          <p:cNvSpPr txBox="1"/>
          <p:nvPr/>
        </p:nvSpPr>
        <p:spPr>
          <a:xfrm>
            <a:off x="4493031" y="2605963"/>
            <a:ext cx="11700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85FF"/>
                </a:solidFill>
                <a:latin typeface="+mj-lt"/>
              </a:rPr>
              <a:t>2021/22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83903568-30C0-ECB9-86D4-863FC896B977}"/>
              </a:ext>
            </a:extLst>
          </p:cNvPr>
          <p:cNvSpPr txBox="1"/>
          <p:nvPr/>
        </p:nvSpPr>
        <p:spPr>
          <a:xfrm>
            <a:off x="4429658" y="4002436"/>
            <a:ext cx="1062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Rabies outbreaks in El Pedregal</a:t>
            </a: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7A6BB939-C030-FC37-9E28-3F8F6530E447}"/>
              </a:ext>
            </a:extLst>
          </p:cNvPr>
          <p:cNvCxnSpPr>
            <a:cxnSpLocks/>
          </p:cNvCxnSpPr>
          <p:nvPr/>
        </p:nvCxnSpPr>
        <p:spPr>
          <a:xfrm flipV="1">
            <a:off x="334357" y="4623307"/>
            <a:ext cx="995954" cy="2958"/>
          </a:xfrm>
          <a:prstGeom prst="line">
            <a:avLst/>
          </a:prstGeom>
          <a:ln w="19050">
            <a:solidFill>
              <a:srgbClr val="4F9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6FD8E6F2-6683-1357-C93B-B96D3AFB1E65}"/>
              </a:ext>
            </a:extLst>
          </p:cNvPr>
          <p:cNvCxnSpPr>
            <a:cxnSpLocks/>
          </p:cNvCxnSpPr>
          <p:nvPr/>
        </p:nvCxnSpPr>
        <p:spPr>
          <a:xfrm>
            <a:off x="2309666" y="4623307"/>
            <a:ext cx="997839" cy="0"/>
          </a:xfrm>
          <a:prstGeom prst="line">
            <a:avLst/>
          </a:prstGeom>
          <a:ln w="19050">
            <a:solidFill>
              <a:srgbClr val="EE38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4D7B5B8E-B2AB-F110-60C9-A04EDD6E4736}"/>
              </a:ext>
            </a:extLst>
          </p:cNvPr>
          <p:cNvCxnSpPr>
            <a:cxnSpLocks/>
          </p:cNvCxnSpPr>
          <p:nvPr/>
        </p:nvCxnSpPr>
        <p:spPr>
          <a:xfrm>
            <a:off x="4461840" y="4623307"/>
            <a:ext cx="997839" cy="0"/>
          </a:xfrm>
          <a:prstGeom prst="line">
            <a:avLst/>
          </a:prstGeom>
          <a:ln w="19050">
            <a:solidFill>
              <a:srgbClr val="FF85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59284C64-C823-DBE6-8987-C231445E8E58}"/>
              </a:ext>
            </a:extLst>
          </p:cNvPr>
          <p:cNvCxnSpPr>
            <a:cxnSpLocks/>
          </p:cNvCxnSpPr>
          <p:nvPr/>
        </p:nvCxnSpPr>
        <p:spPr>
          <a:xfrm>
            <a:off x="1275580" y="1878882"/>
            <a:ext cx="997839" cy="0"/>
          </a:xfrm>
          <a:prstGeom prst="line">
            <a:avLst/>
          </a:prstGeom>
          <a:ln w="19050">
            <a:solidFill>
              <a:srgbClr val="EE95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059AF0D9-FCD5-35F1-2B77-2DB97FFFD583}"/>
              </a:ext>
            </a:extLst>
          </p:cNvPr>
          <p:cNvCxnSpPr>
            <a:cxnSpLocks/>
          </p:cNvCxnSpPr>
          <p:nvPr/>
        </p:nvCxnSpPr>
        <p:spPr>
          <a:xfrm>
            <a:off x="3376031" y="1878882"/>
            <a:ext cx="997839" cy="0"/>
          </a:xfrm>
          <a:prstGeom prst="line">
            <a:avLst/>
          </a:prstGeom>
          <a:ln w="19050">
            <a:solidFill>
              <a:srgbClr val="3131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46422722-9DBD-A85A-6464-D091B954F2C3}"/>
              </a:ext>
            </a:extLst>
          </p:cNvPr>
          <p:cNvSpPr txBox="1"/>
          <p:nvPr/>
        </p:nvSpPr>
        <p:spPr>
          <a:xfrm>
            <a:off x="189722" y="4001755"/>
            <a:ext cx="1287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Last detected case in Arequipa city and Region</a:t>
            </a: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3264562B-76BA-C2C0-3E1B-00027329EFB6}"/>
              </a:ext>
            </a:extLst>
          </p:cNvPr>
          <p:cNvGrpSpPr/>
          <p:nvPr/>
        </p:nvGrpSpPr>
        <p:grpSpPr>
          <a:xfrm>
            <a:off x="5760739" y="2385896"/>
            <a:ext cx="517029" cy="1061161"/>
            <a:chOff x="5267125" y="6580729"/>
            <a:chExt cx="517029" cy="1061161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3A77F7D5-C43C-1FCE-0338-B162DBE09BE6}"/>
                </a:ext>
              </a:extLst>
            </p:cNvPr>
            <p:cNvSpPr/>
            <p:nvPr/>
          </p:nvSpPr>
          <p:spPr>
            <a:xfrm>
              <a:off x="5475090" y="7329797"/>
              <a:ext cx="107156" cy="107156"/>
            </a:xfrm>
            <a:prstGeom prst="ellipse">
              <a:avLst/>
            </a:prstGeom>
            <a:solidFill>
              <a:srgbClr val="714A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13" name="Arc 212">
              <a:extLst>
                <a:ext uri="{FF2B5EF4-FFF2-40B4-BE49-F238E27FC236}">
                  <a16:creationId xmlns:a16="http://schemas.microsoft.com/office/drawing/2014/main" id="{7B226C87-6F4D-971E-0101-8041BD432FD8}"/>
                </a:ext>
              </a:extLst>
            </p:cNvPr>
            <p:cNvSpPr/>
            <p:nvPr/>
          </p:nvSpPr>
          <p:spPr>
            <a:xfrm rot="5400000">
              <a:off x="5267126" y="7124861"/>
              <a:ext cx="517028" cy="517029"/>
            </a:xfrm>
            <a:prstGeom prst="arc">
              <a:avLst>
                <a:gd name="adj1" fmla="val 5420354"/>
                <a:gd name="adj2" fmla="val 10853341"/>
              </a:avLst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  <p:sp>
          <p:nvSpPr>
            <p:cNvPr id="214" name="Circle: Hollow 46">
              <a:extLst>
                <a:ext uri="{FF2B5EF4-FFF2-40B4-BE49-F238E27FC236}">
                  <a16:creationId xmlns:a16="http://schemas.microsoft.com/office/drawing/2014/main" id="{80CB26B2-65AD-874D-5449-57C51FC79D36}"/>
                </a:ext>
              </a:extLst>
            </p:cNvPr>
            <p:cNvSpPr/>
            <p:nvPr/>
          </p:nvSpPr>
          <p:spPr>
            <a:xfrm>
              <a:off x="5405089" y="7262825"/>
              <a:ext cx="241102" cy="241102"/>
            </a:xfrm>
            <a:prstGeom prst="donut">
              <a:avLst>
                <a:gd name="adj" fmla="val 5281"/>
              </a:avLst>
            </a:prstGeom>
            <a:solidFill>
              <a:srgbClr val="714AAC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sp>
          <p:nvSpPr>
            <p:cNvPr id="215" name="Circle: Hollow 47">
              <a:extLst>
                <a:ext uri="{FF2B5EF4-FFF2-40B4-BE49-F238E27FC236}">
                  <a16:creationId xmlns:a16="http://schemas.microsoft.com/office/drawing/2014/main" id="{59BDA27C-1AF1-00FC-A1A8-8C72FC005857}"/>
                </a:ext>
              </a:extLst>
            </p:cNvPr>
            <p:cNvSpPr/>
            <p:nvPr/>
          </p:nvSpPr>
          <p:spPr>
            <a:xfrm>
              <a:off x="5330349" y="7188084"/>
              <a:ext cx="390583" cy="390583"/>
            </a:xfrm>
            <a:prstGeom prst="donut">
              <a:avLst>
                <a:gd name="adj" fmla="val 287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A38BB30C-8A8A-91A3-03F9-2723ADC839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5641" y="6606804"/>
              <a:ext cx="0" cy="581280"/>
            </a:xfrm>
            <a:prstGeom prst="line">
              <a:avLst/>
            </a:prstGeom>
            <a:ln w="19050">
              <a:solidFill>
                <a:srgbClr val="714A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FDAC857F-E0B7-0014-6B50-DBFE0EC7D2F8}"/>
                </a:ext>
              </a:extLst>
            </p:cNvPr>
            <p:cNvSpPr/>
            <p:nvPr/>
          </p:nvSpPr>
          <p:spPr>
            <a:xfrm>
              <a:off x="5490698" y="6580729"/>
              <a:ext cx="69885" cy="69885"/>
            </a:xfrm>
            <a:prstGeom prst="ellipse">
              <a:avLst/>
            </a:prstGeom>
            <a:solidFill>
              <a:srgbClr val="714AAC"/>
            </a:solidFill>
            <a:ln>
              <a:solidFill>
                <a:srgbClr val="6C3B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/>
            </a:p>
          </p:txBody>
        </p:sp>
      </p:grpSp>
      <p:sp>
        <p:nvSpPr>
          <p:cNvPr id="218" name="TextBox 217">
            <a:extLst>
              <a:ext uri="{FF2B5EF4-FFF2-40B4-BE49-F238E27FC236}">
                <a16:creationId xmlns:a16="http://schemas.microsoft.com/office/drawing/2014/main" id="{7ED17FB9-79B7-CB05-FC9C-2813D8DCC36C}"/>
              </a:ext>
            </a:extLst>
          </p:cNvPr>
          <p:cNvSpPr txBox="1"/>
          <p:nvPr/>
        </p:nvSpPr>
        <p:spPr>
          <a:xfrm>
            <a:off x="5593051" y="3402286"/>
            <a:ext cx="85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14AAC"/>
                </a:solidFill>
                <a:latin typeface="+mj-lt"/>
              </a:rPr>
              <a:t>2025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3D9AE3E7-C998-4620-6CB7-1983FA631668}"/>
              </a:ext>
            </a:extLst>
          </p:cNvPr>
          <p:cNvSpPr txBox="1"/>
          <p:nvPr/>
        </p:nvSpPr>
        <p:spPr>
          <a:xfrm>
            <a:off x="5237794" y="1897206"/>
            <a:ext cx="146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Rabies persistence in Arequipa City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3EEF8F3B-E5F4-E89F-2879-D34344726D62}"/>
              </a:ext>
            </a:extLst>
          </p:cNvPr>
          <p:cNvSpPr txBox="1"/>
          <p:nvPr/>
        </p:nvSpPr>
        <p:spPr>
          <a:xfrm>
            <a:off x="4030476" y="1280053"/>
            <a:ext cx="2510451" cy="523220"/>
          </a:xfrm>
          <a:prstGeom prst="rect">
            <a:avLst/>
          </a:prstGeom>
          <a:solidFill>
            <a:schemeClr val="bg1">
              <a:alpha val="6392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Rabies re-emergence and persistence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8468CF4B-FF5D-8449-3515-A4AAC9C4C3DA}"/>
              </a:ext>
            </a:extLst>
          </p:cNvPr>
          <p:cNvSpPr txBox="1"/>
          <p:nvPr/>
        </p:nvSpPr>
        <p:spPr>
          <a:xfrm>
            <a:off x="476624" y="1280053"/>
            <a:ext cx="3205407" cy="523220"/>
          </a:xfrm>
          <a:prstGeom prst="rect">
            <a:avLst/>
          </a:prstGeom>
          <a:solidFill>
            <a:srgbClr val="F2F2F2">
              <a:alpha val="58431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16 years of epidemiological silence in Arequipa city</a:t>
            </a:r>
          </a:p>
        </p:txBody>
      </p: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A14458B3-3B17-2314-DE9D-7EC3E93E9B57}"/>
              </a:ext>
            </a:extLst>
          </p:cNvPr>
          <p:cNvCxnSpPr>
            <a:cxnSpLocks/>
          </p:cNvCxnSpPr>
          <p:nvPr/>
        </p:nvCxnSpPr>
        <p:spPr>
          <a:xfrm>
            <a:off x="5511388" y="1878882"/>
            <a:ext cx="997839" cy="0"/>
          </a:xfrm>
          <a:prstGeom prst="line">
            <a:avLst/>
          </a:prstGeom>
          <a:ln w="19050">
            <a:solidFill>
              <a:srgbClr val="714A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Rectangle 222">
            <a:extLst>
              <a:ext uri="{FF2B5EF4-FFF2-40B4-BE49-F238E27FC236}">
                <a16:creationId xmlns:a16="http://schemas.microsoft.com/office/drawing/2014/main" id="{B4143702-5516-BE87-C8EC-75331000544D}"/>
              </a:ext>
            </a:extLst>
          </p:cNvPr>
          <p:cNvSpPr/>
          <p:nvPr/>
        </p:nvSpPr>
        <p:spPr>
          <a:xfrm>
            <a:off x="196946" y="1248760"/>
            <a:ext cx="6487427" cy="35112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EA7231-2628-B79E-EA5C-9BFE2CE0A0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66" t="880" r="4633"/>
          <a:stretch>
            <a:fillRect/>
          </a:stretch>
        </p:blipFill>
        <p:spPr>
          <a:xfrm>
            <a:off x="3899146" y="4814576"/>
            <a:ext cx="2718320" cy="2990456"/>
          </a:xfrm>
          <a:prstGeom prst="rect">
            <a:avLst/>
          </a:prstGeom>
        </p:spPr>
      </p:pic>
      <p:pic>
        <p:nvPicPr>
          <p:cNvPr id="18" name="Graphic 17" descr="Airplane with solid fill">
            <a:extLst>
              <a:ext uri="{FF2B5EF4-FFF2-40B4-BE49-F238E27FC236}">
                <a16:creationId xmlns:a16="http://schemas.microsoft.com/office/drawing/2014/main" id="{BCAC3446-CFEE-48EE-C962-83BABB20ED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35311" y="5502250"/>
            <a:ext cx="172176" cy="172176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8B7D02-8AB0-E9B6-2070-BB5CC6B0C63A}"/>
              </a:ext>
            </a:extLst>
          </p:cNvPr>
          <p:cNvCxnSpPr>
            <a:cxnSpLocks/>
          </p:cNvCxnSpPr>
          <p:nvPr/>
        </p:nvCxnSpPr>
        <p:spPr>
          <a:xfrm flipV="1">
            <a:off x="2224126" y="6305373"/>
            <a:ext cx="1687720" cy="457363"/>
          </a:xfrm>
          <a:prstGeom prst="straightConnector1">
            <a:avLst/>
          </a:prstGeom>
          <a:ln>
            <a:solidFill>
              <a:srgbClr val="3131CC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3FE81C8-99CB-7D71-BC5E-A2A15D66F12C}"/>
              </a:ext>
            </a:extLst>
          </p:cNvPr>
          <p:cNvSpPr txBox="1"/>
          <p:nvPr/>
        </p:nvSpPr>
        <p:spPr>
          <a:xfrm>
            <a:off x="181706" y="1224875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60DE9C-9059-C77C-6F2B-6E7211041335}"/>
              </a:ext>
            </a:extLst>
          </p:cNvPr>
          <p:cNvSpPr txBox="1"/>
          <p:nvPr/>
        </p:nvSpPr>
        <p:spPr>
          <a:xfrm>
            <a:off x="149290" y="478933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9C0187-9B1D-3622-3719-1F6BFD43ED7A}"/>
              </a:ext>
            </a:extLst>
          </p:cNvPr>
          <p:cNvSpPr txBox="1"/>
          <p:nvPr/>
        </p:nvSpPr>
        <p:spPr>
          <a:xfrm>
            <a:off x="3852652" y="4793321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54285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328A77C-9AAB-3AB6-1230-FCACC66A14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69" r="10290"/>
          <a:stretch>
            <a:fillRect/>
          </a:stretch>
        </p:blipFill>
        <p:spPr>
          <a:xfrm>
            <a:off x="0" y="2834127"/>
            <a:ext cx="5893906" cy="730378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EED684-79AC-8E24-EB1F-88316A98B32E}"/>
              </a:ext>
            </a:extLst>
          </p:cNvPr>
          <p:cNvCxnSpPr/>
          <p:nvPr/>
        </p:nvCxnSpPr>
        <p:spPr>
          <a:xfrm>
            <a:off x="5869147" y="3001606"/>
            <a:ext cx="0" cy="50093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EE64C9E-F345-9451-0B3D-C676F0760D59}"/>
              </a:ext>
            </a:extLst>
          </p:cNvPr>
          <p:cNvSpPr txBox="1"/>
          <p:nvPr/>
        </p:nvSpPr>
        <p:spPr>
          <a:xfrm>
            <a:off x="5893906" y="5049077"/>
            <a:ext cx="1143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Main Arequipa lineage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E62C13-B90A-4D45-D5DE-49D7BE1059BD}"/>
              </a:ext>
            </a:extLst>
          </p:cNvPr>
          <p:cNvCxnSpPr>
            <a:cxnSpLocks/>
          </p:cNvCxnSpPr>
          <p:nvPr/>
        </p:nvCxnSpPr>
        <p:spPr>
          <a:xfrm>
            <a:off x="5092150" y="7994496"/>
            <a:ext cx="0" cy="3909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09EF787-B1B0-3D89-CF6E-25503A5ACD50}"/>
              </a:ext>
            </a:extLst>
          </p:cNvPr>
          <p:cNvSpPr txBox="1"/>
          <p:nvPr/>
        </p:nvSpPr>
        <p:spPr>
          <a:xfrm>
            <a:off x="5092150" y="7928356"/>
            <a:ext cx="1398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El Pedregal 2021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05E7F0-CC0D-9640-28EB-ADF9ED3F3738}"/>
              </a:ext>
            </a:extLst>
          </p:cNvPr>
          <p:cNvCxnSpPr>
            <a:cxnSpLocks/>
          </p:cNvCxnSpPr>
          <p:nvPr/>
        </p:nvCxnSpPr>
        <p:spPr>
          <a:xfrm>
            <a:off x="2946953" y="8531225"/>
            <a:ext cx="0" cy="1209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AD0ACEC-0600-B20E-0B9C-36BD8E4B8125}"/>
              </a:ext>
            </a:extLst>
          </p:cNvPr>
          <p:cNvSpPr txBox="1"/>
          <p:nvPr/>
        </p:nvSpPr>
        <p:spPr>
          <a:xfrm>
            <a:off x="2946952" y="8437791"/>
            <a:ext cx="1398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Historical Puno</a:t>
            </a:r>
          </a:p>
        </p:txBody>
      </p:sp>
    </p:spTree>
    <p:extLst>
      <p:ext uri="{BB962C8B-B14F-4D97-AF65-F5344CB8AC3E}">
        <p14:creationId xmlns:p14="http://schemas.microsoft.com/office/powerpoint/2010/main" val="1019285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11511</TotalTime>
  <Words>410</Words>
  <Application>Microsoft Macintosh PowerPoint</Application>
  <PresentationFormat>Widescreen</PresentationFormat>
  <Paragraphs>96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Sensitivity analyses</vt:lpstr>
      <vt:lpstr>PowerPoint Presentation</vt:lpstr>
      <vt:lpstr>PowerPoint Presentation</vt:lpstr>
      <vt:lpstr>PowerPoint Presentation</vt:lpstr>
      <vt:lpstr>Removing BF&lt;50</vt:lpstr>
      <vt:lpstr>Overall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Sensitivity analyses</dc:title>
  <dc:creator>Kirstyn Brunker</dc:creator>
  <cp:lastModifiedBy>Kirstyn Brunker</cp:lastModifiedBy>
  <cp:revision>7</cp:revision>
  <dcterms:created xsi:type="dcterms:W3CDTF">2026-04-30T12:11:09Z</dcterms:created>
  <dcterms:modified xsi:type="dcterms:W3CDTF">2026-06-04T11:02:22Z</dcterms:modified>
</cp:coreProperties>
</file>