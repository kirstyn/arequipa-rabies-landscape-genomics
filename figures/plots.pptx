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3" r:id="rId9"/>
    <p:sldId id="266" r:id="rId10"/>
    <p:sldId id="267" r:id="rId11"/>
    <p:sldId id="264" r:id="rId12"/>
    <p:sldId id="265" r:id="rId1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327"/>
    <a:srgbClr val="F2F2F2"/>
    <a:srgbClr val="FFFFFF"/>
    <a:srgbClr val="265317"/>
    <a:srgbClr val="3131CC"/>
    <a:srgbClr val="EE3837"/>
    <a:srgbClr val="714AAC"/>
    <a:srgbClr val="4F9EEC"/>
    <a:srgbClr val="6C3B35"/>
    <a:srgbClr val="E2D3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34"/>
    <p:restoredTop sz="94703"/>
  </p:normalViewPr>
  <p:slideViewPr>
    <p:cSldViewPr snapToGrid="0">
      <p:cViewPr>
        <p:scale>
          <a:sx n="151" d="100"/>
          <a:sy n="151" d="100"/>
        </p:scale>
        <p:origin x="5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9FFF0-851C-4A46-AEF5-BE2D704963A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117A95-4FE8-EE49-B535-8C9EAD13D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76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117A95-4FE8-EE49-B535-8C9EAD13D2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14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442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30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32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162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6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365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96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57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84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85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7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BDB12F-C883-7749-8D18-3D430D0F0DA3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27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C8536F-3231-4FA4-3C73-D31675B2C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analyses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9DC73E-8E36-00CF-21A7-4E790B94A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Oversampled districts (n&gt;10) </a:t>
            </a:r>
            <a:r>
              <a:rPr lang="en-US" dirty="0" err="1"/>
              <a:t>downsampled</a:t>
            </a:r>
            <a:r>
              <a:rPr lang="en-US" dirty="0"/>
              <a:t> randomly</a:t>
            </a:r>
          </a:p>
          <a:p>
            <a:pPr lvl="1"/>
            <a:r>
              <a:rPr lang="en-US" dirty="0"/>
              <a:t>Keeping minimum of 100seq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833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5AFB7-3790-3430-1DC0-E6B7D58CF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" y="4167188"/>
            <a:ext cx="5491826" cy="3138186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58C820-D546-08A8-0FC4-F55053D9D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332683"/>
              </p:ext>
            </p:extLst>
          </p:nvPr>
        </p:nvGraphicFramePr>
        <p:xfrm>
          <a:off x="5158702" y="4394458"/>
          <a:ext cx="1645721" cy="923785"/>
        </p:xfrm>
        <a:graphic>
          <a:graphicData uri="http://schemas.openxmlformats.org/drawingml/2006/table">
            <a:tbl>
              <a:tblPr/>
              <a:tblGrid>
                <a:gridCol w="822860">
                  <a:extLst>
                    <a:ext uri="{9D8B030D-6E8A-4147-A177-3AD203B41FA5}">
                      <a16:colId xmlns:a16="http://schemas.microsoft.com/office/drawing/2014/main" val="3605043647"/>
                    </a:ext>
                  </a:extLst>
                </a:gridCol>
                <a:gridCol w="822860">
                  <a:extLst>
                    <a:ext uri="{9D8B030D-6E8A-4147-A177-3AD203B41FA5}">
                      <a16:colId xmlns:a16="http://schemas.microsoft.com/office/drawing/2014/main" val="1741239572"/>
                    </a:ext>
                  </a:extLst>
                </a:gridCol>
              </a:tblGrid>
              <a:tr h="221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effectLst/>
                        </a:rPr>
                        <a:t>Transition</a:t>
                      </a:r>
                      <a:endParaRPr lang="en-US" sz="800">
                        <a:effectLst/>
                      </a:endParaRP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effectLst/>
                        </a:rPr>
                        <a:t>Change</a:t>
                      </a:r>
                      <a:endParaRPr lang="en-US" sz="800">
                        <a:effectLst/>
                      </a:endParaRP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111008"/>
                  </a:ext>
                </a:extLst>
              </a:tr>
              <a:tr h="351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north → south</a:t>
                      </a: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↓ ~5%</a:t>
                      </a: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997343"/>
                  </a:ext>
                </a:extLst>
              </a:tr>
              <a:tr h="351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south → north</a:t>
                      </a: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effectLst/>
                        </a:rPr>
                        <a:t>↑ ~34%</a:t>
                      </a: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65426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6921A29-3E1D-8327-22DB-02A2936DBFA6}"/>
              </a:ext>
            </a:extLst>
          </p:cNvPr>
          <p:cNvSpPr txBox="1"/>
          <p:nvPr/>
        </p:nvSpPr>
        <p:spPr>
          <a:xfrm>
            <a:off x="5158702" y="6642182"/>
            <a:ext cx="1645721" cy="87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13" dirty="0"/>
              <a:t>Full:</a:t>
            </a:r>
          </a:p>
          <a:p>
            <a:pPr>
              <a:buNone/>
            </a:pPr>
            <a:r>
              <a:rPr lang="en-US" sz="1013" dirty="0"/>
              <a:t> ~3.0× stronger north → south </a:t>
            </a:r>
          </a:p>
          <a:p>
            <a:pPr>
              <a:buNone/>
            </a:pPr>
            <a:r>
              <a:rPr lang="en-US" sz="1013" dirty="0"/>
              <a:t>DS:</a:t>
            </a:r>
          </a:p>
          <a:p>
            <a:r>
              <a:rPr lang="en-US" sz="1013" dirty="0"/>
              <a:t>~2.1×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424BB8-E42D-C2EC-B3A5-5C09271F3D1C}"/>
              </a:ext>
            </a:extLst>
          </p:cNvPr>
          <p:cNvSpPr txBox="1"/>
          <p:nvPr/>
        </p:nvSpPr>
        <p:spPr>
          <a:xfrm>
            <a:off x="5158701" y="6019060"/>
            <a:ext cx="1342428" cy="87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13" b="1" dirty="0"/>
              <a:t>✔ still directional constraint</a:t>
            </a:r>
          </a:p>
          <a:p>
            <a:r>
              <a:rPr lang="en-US" sz="1013" dirty="0"/>
              <a:t>north → south consistently stronger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3F7678-9329-190A-7147-AC524B9BE0DB}"/>
              </a:ext>
            </a:extLst>
          </p:cNvPr>
          <p:cNvSpPr txBox="1"/>
          <p:nvPr/>
        </p:nvSpPr>
        <p:spPr>
          <a:xfrm>
            <a:off x="294612" y="7305374"/>
            <a:ext cx="3427914" cy="71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013" dirty="0"/>
              <a:t>Directionality exists (north → south ~3× → 2.1×)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13" dirty="0"/>
              <a:t>But asymmetry shrinks more under </a:t>
            </a:r>
            <a:r>
              <a:rPr lang="en-US" sz="1013" dirty="0" err="1"/>
              <a:t>downsampling</a:t>
            </a:r>
            <a:r>
              <a:rPr lang="en-US" sz="1013" dirty="0"/>
              <a:t> (~30% reduction)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13" dirty="0"/>
              <a:t>Weak direction becomes stronger when data are removed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212EA4-1422-7803-A78C-4DEC6CC7E6E5}"/>
              </a:ext>
            </a:extLst>
          </p:cNvPr>
          <p:cNvSpPr txBox="1"/>
          <p:nvPr/>
        </p:nvSpPr>
        <p:spPr>
          <a:xfrm>
            <a:off x="4054575" y="7642966"/>
            <a:ext cx="1822877" cy="248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13" b="1" dirty="0"/>
              <a:t>Partial/ episodic constraint</a:t>
            </a:r>
            <a:endParaRPr lang="en-US" sz="1013" dirty="0"/>
          </a:p>
        </p:txBody>
      </p:sp>
    </p:spTree>
    <p:extLst>
      <p:ext uri="{BB962C8B-B14F-4D97-AF65-F5344CB8AC3E}">
        <p14:creationId xmlns:p14="http://schemas.microsoft.com/office/powerpoint/2010/main" val="4120788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FAF090-80BC-4C19-7D1B-1BE2AC5EA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6" y="4421973"/>
            <a:ext cx="4410548" cy="25203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72C8C4-E8E7-A75A-28A7-65769C1481BD}"/>
              </a:ext>
            </a:extLst>
          </p:cNvPr>
          <p:cNvSpPr txBox="1"/>
          <p:nvPr/>
        </p:nvSpPr>
        <p:spPr>
          <a:xfrm>
            <a:off x="310044" y="4727605"/>
            <a:ext cx="875785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Statistical support remains despite drop</a:t>
            </a:r>
          </a:p>
          <a:p>
            <a:r>
              <a:rPr lang="en-US" sz="675" dirty="0"/>
              <a:t>(decisive to v strong)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3700C83-98F2-B09D-83D4-045EE5AD9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115061"/>
              </p:ext>
            </p:extLst>
          </p:nvPr>
        </p:nvGraphicFramePr>
        <p:xfrm>
          <a:off x="4071344" y="4316125"/>
          <a:ext cx="1184202" cy="822960"/>
        </p:xfrm>
        <a:graphic>
          <a:graphicData uri="http://schemas.openxmlformats.org/drawingml/2006/table">
            <a:tbl>
              <a:tblPr/>
              <a:tblGrid>
                <a:gridCol w="592101">
                  <a:extLst>
                    <a:ext uri="{9D8B030D-6E8A-4147-A177-3AD203B41FA5}">
                      <a16:colId xmlns:a16="http://schemas.microsoft.com/office/drawing/2014/main" val="1131060342"/>
                    </a:ext>
                  </a:extLst>
                </a:gridCol>
                <a:gridCol w="592101">
                  <a:extLst>
                    <a:ext uri="{9D8B030D-6E8A-4147-A177-3AD203B41FA5}">
                      <a16:colId xmlns:a16="http://schemas.microsoft.com/office/drawing/2014/main" val="395546954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b="1">
                          <a:effectLst/>
                        </a:rPr>
                        <a:t>Transition</a:t>
                      </a:r>
                      <a:endParaRPr lang="en-US" sz="600">
                        <a:effectLst/>
                      </a:endParaRP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b="1" dirty="0">
                          <a:effectLst/>
                        </a:rPr>
                        <a:t>Relative change</a:t>
                      </a:r>
                      <a:endParaRPr lang="en-US" sz="600" dirty="0">
                        <a:effectLst/>
                      </a:endParaRP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43902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periurban → urban</a:t>
                      </a: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↓ ~30%</a:t>
                      </a: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9459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urban → periurban</a:t>
                      </a: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effectLst/>
                        </a:rPr>
                        <a:t>↓ ~44%</a:t>
                      </a: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91242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833917C-A78F-B12C-2E45-F0D6D75656A2}"/>
              </a:ext>
            </a:extLst>
          </p:cNvPr>
          <p:cNvSpPr txBox="1"/>
          <p:nvPr/>
        </p:nvSpPr>
        <p:spPr>
          <a:xfrm>
            <a:off x="193302" y="7022929"/>
            <a:ext cx="58186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/>
              <a:t>Downsampling</a:t>
            </a:r>
            <a:r>
              <a:rPr lang="en-US" sz="900" dirty="0"/>
              <a:t> reduces inferred movement intensity (30–45%) but preserves the overall directional structure of urban–</a:t>
            </a:r>
            <a:r>
              <a:rPr lang="en-US" sz="900" dirty="0" err="1"/>
              <a:t>periurban</a:t>
            </a:r>
            <a:r>
              <a:rPr lang="en-US" sz="900" dirty="0"/>
              <a:t> transitions</a:t>
            </a:r>
          </a:p>
          <a:p>
            <a:r>
              <a:rPr lang="en-US" sz="900" b="1" dirty="0"/>
              <a:t>Asymmetry pattern is robust, magnitude is moderately sensitive (primarily driven by Cerro Colorado?)</a:t>
            </a:r>
          </a:p>
          <a:p>
            <a:endParaRPr lang="en-US" sz="900" dirty="0"/>
          </a:p>
          <a:p>
            <a:endParaRPr lang="en-US" sz="900" dirty="0"/>
          </a:p>
          <a:p>
            <a:endParaRPr 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2556BD-FDDD-4EE9-1B14-EFC23E514BBE}"/>
              </a:ext>
            </a:extLst>
          </p:cNvPr>
          <p:cNvSpPr txBox="1"/>
          <p:nvPr/>
        </p:nvSpPr>
        <p:spPr>
          <a:xfrm>
            <a:off x="4158862" y="5912171"/>
            <a:ext cx="2473154" cy="87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13" dirty="0"/>
              <a:t>Full model</a:t>
            </a:r>
          </a:p>
          <a:p>
            <a:pPr>
              <a:buNone/>
            </a:pPr>
            <a:r>
              <a:rPr lang="en-US" sz="1013" dirty="0"/>
              <a:t>~3.7× stronger urban → </a:t>
            </a:r>
            <a:r>
              <a:rPr lang="en-US" sz="1013" dirty="0" err="1"/>
              <a:t>periurban</a:t>
            </a:r>
            <a:r>
              <a:rPr lang="en-US" sz="1013" dirty="0"/>
              <a:t> flow</a:t>
            </a:r>
          </a:p>
          <a:p>
            <a:pPr>
              <a:buNone/>
            </a:pPr>
            <a:r>
              <a:rPr lang="en-US" sz="1013" dirty="0"/>
              <a:t>DS</a:t>
            </a:r>
          </a:p>
          <a:p>
            <a:r>
              <a:rPr lang="en-US" sz="1013" dirty="0"/>
              <a:t>~3.0× stronger urban → </a:t>
            </a:r>
            <a:r>
              <a:rPr lang="en-US" sz="1013" dirty="0" err="1"/>
              <a:t>periurban</a:t>
            </a:r>
            <a:r>
              <a:rPr lang="en-US" sz="1013" dirty="0"/>
              <a:t> flow</a:t>
            </a:r>
          </a:p>
          <a:p>
            <a:pPr>
              <a:buNone/>
            </a:pPr>
            <a:endParaRPr lang="en-US" sz="1013" dirty="0"/>
          </a:p>
        </p:txBody>
      </p:sp>
    </p:spTree>
    <p:extLst>
      <p:ext uri="{BB962C8B-B14F-4D97-AF65-F5344CB8AC3E}">
        <p14:creationId xmlns:p14="http://schemas.microsoft.com/office/powerpoint/2010/main" val="3956850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1D07FC2-A9BB-947F-52E7-3894E4B10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976"/>
          <a:stretch>
            <a:fillRect/>
          </a:stretch>
        </p:blipFill>
        <p:spPr>
          <a:xfrm>
            <a:off x="693642" y="5430275"/>
            <a:ext cx="2060409" cy="24516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21715F-827F-B585-BB9B-ECE9EBD7FA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30" r="1"/>
          <a:stretch>
            <a:fillRect/>
          </a:stretch>
        </p:blipFill>
        <p:spPr>
          <a:xfrm>
            <a:off x="3748828" y="5241463"/>
            <a:ext cx="2415530" cy="256234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04FEABE-3E30-FF4B-3F71-10CCC1D454D8}"/>
              </a:ext>
            </a:extLst>
          </p:cNvPr>
          <p:cNvSpPr txBox="1"/>
          <p:nvPr/>
        </p:nvSpPr>
        <p:spPr>
          <a:xfrm>
            <a:off x="240898" y="4286093"/>
            <a:ext cx="3854370" cy="87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734" indent="-160734">
              <a:buFont typeface="Arial" panose="020B0604020202020204" pitchFamily="34" charset="0"/>
              <a:buChar char="•"/>
            </a:pPr>
            <a:r>
              <a:rPr lang="en-US" sz="1013" dirty="0"/>
              <a:t>High-support transitions remain broadly stable </a:t>
            </a:r>
          </a:p>
          <a:p>
            <a:pPr marL="160734" indent="-160734">
              <a:buFont typeface="Arial" panose="020B0604020202020204" pitchFamily="34" charset="0"/>
              <a:buChar char="•"/>
            </a:pPr>
            <a:r>
              <a:rPr lang="en-US" sz="1013" dirty="0"/>
              <a:t>Lower-supported routes have greater variability in both BF and MJ (BF&gt;50 as a threshold?)</a:t>
            </a:r>
          </a:p>
          <a:p>
            <a:pPr marL="160734" indent="-160734">
              <a:buFont typeface="Arial" panose="020B0604020202020204" pitchFamily="34" charset="0"/>
              <a:buChar char="•"/>
            </a:pPr>
            <a:r>
              <a:rPr lang="en-US" sz="1013" b="1" dirty="0"/>
              <a:t>Core movement network remains stable</a:t>
            </a:r>
            <a:endParaRPr lang="en-US" sz="1013" dirty="0"/>
          </a:p>
          <a:p>
            <a:pPr marL="160734" indent="-160734">
              <a:buFont typeface="Arial" panose="020B0604020202020204" pitchFamily="34" charset="0"/>
              <a:buChar char="•"/>
            </a:pPr>
            <a:endParaRPr lang="en-US" sz="1013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505BA3-2D82-195A-72CA-9E796E75AC6C}"/>
              </a:ext>
            </a:extLst>
          </p:cNvPr>
          <p:cNvSpPr txBox="1"/>
          <p:nvPr/>
        </p:nvSpPr>
        <p:spPr>
          <a:xfrm>
            <a:off x="4837494" y="4857403"/>
            <a:ext cx="1922845" cy="559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/>
              <a:t>Cerro Colorado routes (particularly to </a:t>
            </a:r>
            <a:r>
              <a:rPr lang="en-US" sz="1013" dirty="0" err="1"/>
              <a:t>yura</a:t>
            </a:r>
            <a:r>
              <a:rPr lang="en-US" sz="1013" dirty="0"/>
              <a:t>) are </a:t>
            </a:r>
            <a:r>
              <a:rPr lang="en-US" sz="1013" b="1" dirty="0"/>
              <a:t>sample-sensitive but real</a:t>
            </a:r>
            <a:endParaRPr lang="en-US" sz="1013" dirty="0"/>
          </a:p>
        </p:txBody>
      </p:sp>
    </p:spTree>
    <p:extLst>
      <p:ext uri="{BB962C8B-B14F-4D97-AF65-F5344CB8AC3E}">
        <p14:creationId xmlns:p14="http://schemas.microsoft.com/office/powerpoint/2010/main" val="172043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B7C39-4D6A-1194-712A-5A49BE332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4208943"/>
            <a:ext cx="5915025" cy="745629"/>
          </a:xfrm>
        </p:spPr>
        <p:txBody>
          <a:bodyPr/>
          <a:lstStyle/>
          <a:p>
            <a:r>
              <a:rPr lang="en-US" dirty="0"/>
              <a:t>Removing BF&lt;50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0B4A878-D438-21EC-CF71-EEAFB75E0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12E128-A439-A460-2A2E-0C3EC33432FD}"/>
              </a:ext>
            </a:extLst>
          </p:cNvPr>
          <p:cNvSpPr txBox="1"/>
          <p:nvPr/>
        </p:nvSpPr>
        <p:spPr>
          <a:xfrm>
            <a:off x="644565" y="4936419"/>
            <a:ext cx="1171937" cy="40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/>
              <a:t>Original</a:t>
            </a:r>
          </a:p>
          <a:p>
            <a:r>
              <a:rPr lang="en-US" sz="1013" dirty="0"/>
              <a:t>BF&gt;10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DA28EA-8EB1-F080-70CA-7BEACBD386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00" t="17588" r="29846" b="24980"/>
          <a:stretch>
            <a:fillRect/>
          </a:stretch>
        </p:blipFill>
        <p:spPr>
          <a:xfrm>
            <a:off x="3291354" y="3962314"/>
            <a:ext cx="3183762" cy="40629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5E59B0-D26D-9E86-679D-2B4CD658A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99532" y="4869018"/>
            <a:ext cx="4371975" cy="295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25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699D41-F76B-4E77-BDF6-765D90D98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6AFEA-2DC3-FBA1-B8E1-841763E4F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Urbanicity = most stable directional system</a:t>
            </a:r>
          </a:p>
          <a:p>
            <a:r>
              <a:rPr lang="en-US" dirty="0"/>
              <a:t>River = intermediate stability, more sampling-sensitive</a:t>
            </a:r>
          </a:p>
          <a:p>
            <a:r>
              <a:rPr lang="en-US" dirty="0"/>
              <a:t>District = heterogeneous / edge-dependent stability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855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BFD9196-5940-630C-05D5-09A6B75BCE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70" t="21506" r="35279" b="17358"/>
          <a:stretch>
            <a:fillRect/>
          </a:stretch>
        </p:blipFill>
        <p:spPr>
          <a:xfrm>
            <a:off x="3510509" y="4394045"/>
            <a:ext cx="652347" cy="12482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75B6D5-08EB-347C-6AC5-9023167A0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540" y="6549716"/>
            <a:ext cx="2588478" cy="12942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E01A14-34A4-5EE1-4690-BDDF4B738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55" y="6559124"/>
            <a:ext cx="2931377" cy="1465689"/>
          </a:xfrm>
          <a:prstGeom prst="rect">
            <a:avLst/>
          </a:prstGeom>
        </p:spPr>
      </p:pic>
      <p:sp>
        <p:nvSpPr>
          <p:cNvPr id="16" name="Right Arrow 15">
            <a:extLst>
              <a:ext uri="{FF2B5EF4-FFF2-40B4-BE49-F238E27FC236}">
                <a16:creationId xmlns:a16="http://schemas.microsoft.com/office/drawing/2014/main" id="{072B87EA-EDD9-0325-34B8-EA346481206A}"/>
              </a:ext>
            </a:extLst>
          </p:cNvPr>
          <p:cNvSpPr/>
          <p:nvPr/>
        </p:nvSpPr>
        <p:spPr>
          <a:xfrm rot="2807487">
            <a:off x="5450856" y="6964041"/>
            <a:ext cx="382627" cy="150541"/>
          </a:xfrm>
          <a:prstGeom prst="rightArrow">
            <a:avLst/>
          </a:prstGeom>
          <a:solidFill>
            <a:srgbClr val="DE8D29">
              <a:alpha val="58039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BE1D50FB-CE86-A279-7840-DE812AD1383E}"/>
              </a:ext>
            </a:extLst>
          </p:cNvPr>
          <p:cNvSpPr/>
          <p:nvPr/>
        </p:nvSpPr>
        <p:spPr>
          <a:xfrm rot="13495322">
            <a:off x="5676797" y="6981262"/>
            <a:ext cx="382627" cy="150541"/>
          </a:xfrm>
          <a:prstGeom prst="rightArrow">
            <a:avLst/>
          </a:prstGeom>
          <a:solidFill>
            <a:srgbClr val="E2D30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6ABA991E-CCE8-D83F-4670-9B67BBF3B3E5}"/>
              </a:ext>
            </a:extLst>
          </p:cNvPr>
          <p:cNvSpPr/>
          <p:nvPr/>
        </p:nvSpPr>
        <p:spPr>
          <a:xfrm rot="2807487">
            <a:off x="2441481" y="7042822"/>
            <a:ext cx="382627" cy="150541"/>
          </a:xfrm>
          <a:prstGeom prst="rightArrow">
            <a:avLst/>
          </a:prstGeom>
          <a:solidFill>
            <a:srgbClr val="DE8D29">
              <a:alpha val="58039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718E088D-458C-D5C3-C5CC-AA73E9B8E0DB}"/>
              </a:ext>
            </a:extLst>
          </p:cNvPr>
          <p:cNvSpPr/>
          <p:nvPr/>
        </p:nvSpPr>
        <p:spPr>
          <a:xfrm rot="13495322">
            <a:off x="2667422" y="7060043"/>
            <a:ext cx="382627" cy="150541"/>
          </a:xfrm>
          <a:prstGeom prst="rightArrow">
            <a:avLst/>
          </a:prstGeom>
          <a:solidFill>
            <a:srgbClr val="E2D30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</p:spTree>
    <p:extLst>
      <p:ext uri="{BB962C8B-B14F-4D97-AF65-F5344CB8AC3E}">
        <p14:creationId xmlns:p14="http://schemas.microsoft.com/office/powerpoint/2010/main" val="1095531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67447F7-623C-7036-7E5D-D37B7E0F7CAB}"/>
              </a:ext>
            </a:extLst>
          </p:cNvPr>
          <p:cNvSpPr/>
          <p:nvPr/>
        </p:nvSpPr>
        <p:spPr>
          <a:xfrm>
            <a:off x="198120" y="5472584"/>
            <a:ext cx="3401506" cy="3939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1DFBE0-B85D-97F2-3BE8-7F594F683ECC}"/>
              </a:ext>
            </a:extLst>
          </p:cNvPr>
          <p:cNvCxnSpPr/>
          <p:nvPr/>
        </p:nvCxnSpPr>
        <p:spPr>
          <a:xfrm>
            <a:off x="2978719" y="7789638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A13A16-0319-2319-7882-38C87E1B18B6}"/>
              </a:ext>
            </a:extLst>
          </p:cNvPr>
          <p:cNvCxnSpPr/>
          <p:nvPr/>
        </p:nvCxnSpPr>
        <p:spPr>
          <a:xfrm>
            <a:off x="4237552" y="7789638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CFDD58-DF6E-6769-B4F6-A7C4001E4529}"/>
              </a:ext>
            </a:extLst>
          </p:cNvPr>
          <p:cNvCxnSpPr>
            <a:cxnSpLocks/>
          </p:cNvCxnSpPr>
          <p:nvPr/>
        </p:nvCxnSpPr>
        <p:spPr>
          <a:xfrm flipV="1">
            <a:off x="5504792" y="7789637"/>
            <a:ext cx="1144486" cy="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ADEA2D-D4FF-3AAE-37BE-F9F1F71F625C}"/>
              </a:ext>
            </a:extLst>
          </p:cNvPr>
          <p:cNvCxnSpPr/>
          <p:nvPr/>
        </p:nvCxnSpPr>
        <p:spPr>
          <a:xfrm>
            <a:off x="1705360" y="7789638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440EEBD-238A-1D55-E04A-B307685AE5E1}"/>
              </a:ext>
            </a:extLst>
          </p:cNvPr>
          <p:cNvCxnSpPr>
            <a:cxnSpLocks/>
            <a:stCxn id="21" idx="6"/>
          </p:cNvCxnSpPr>
          <p:nvPr/>
        </p:nvCxnSpPr>
        <p:spPr>
          <a:xfrm>
            <a:off x="978712" y="7789638"/>
            <a:ext cx="1418046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C504E81-C950-0000-044F-0ACC1C34ED6F}"/>
              </a:ext>
            </a:extLst>
          </p:cNvPr>
          <p:cNvCxnSpPr>
            <a:cxnSpLocks/>
          </p:cNvCxnSpPr>
          <p:nvPr/>
        </p:nvCxnSpPr>
        <p:spPr>
          <a:xfrm>
            <a:off x="196946" y="7789638"/>
            <a:ext cx="546163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>
            <a:extLst>
              <a:ext uri="{FF2B5EF4-FFF2-40B4-BE49-F238E27FC236}">
                <a16:creationId xmlns:a16="http://schemas.microsoft.com/office/drawing/2014/main" id="{485667E8-ED23-1347-599B-952D15121914}"/>
              </a:ext>
            </a:extLst>
          </p:cNvPr>
          <p:cNvSpPr/>
          <p:nvPr/>
        </p:nvSpPr>
        <p:spPr>
          <a:xfrm>
            <a:off x="524905" y="7531123"/>
            <a:ext cx="517029" cy="517029"/>
          </a:xfrm>
          <a:prstGeom prst="arc">
            <a:avLst>
              <a:gd name="adj1" fmla="val 5420354"/>
              <a:gd name="adj2" fmla="val 10853341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EBB1046-4C48-3746-5874-B3434C3784EE}"/>
              </a:ext>
            </a:extLst>
          </p:cNvPr>
          <p:cNvGrpSpPr/>
          <p:nvPr/>
        </p:nvGrpSpPr>
        <p:grpSpPr>
          <a:xfrm>
            <a:off x="588128" y="7594346"/>
            <a:ext cx="390583" cy="1027612"/>
            <a:chOff x="695435" y="3648134"/>
            <a:chExt cx="694370" cy="182686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96E2492-5417-860C-0AC1-5E9CA84E83B1}"/>
                </a:ext>
              </a:extLst>
            </p:cNvPr>
            <p:cNvSpPr/>
            <p:nvPr/>
          </p:nvSpPr>
          <p:spPr>
            <a:xfrm>
              <a:off x="947370" y="3900069"/>
              <a:ext cx="190500" cy="190500"/>
            </a:xfrm>
            <a:prstGeom prst="ellipse">
              <a:avLst/>
            </a:prstGeom>
            <a:solidFill>
              <a:srgbClr val="4F9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0" name="Circle: Hollow 8">
              <a:extLst>
                <a:ext uri="{FF2B5EF4-FFF2-40B4-BE49-F238E27FC236}">
                  <a16:creationId xmlns:a16="http://schemas.microsoft.com/office/drawing/2014/main" id="{65DC5EF3-683F-CD2E-7230-0AE0CF252FBB}"/>
                </a:ext>
              </a:extLst>
            </p:cNvPr>
            <p:cNvSpPr/>
            <p:nvPr/>
          </p:nvSpPr>
          <p:spPr>
            <a:xfrm>
              <a:off x="828307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4F9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21" name="Circle: Hollow 9">
              <a:extLst>
                <a:ext uri="{FF2B5EF4-FFF2-40B4-BE49-F238E27FC236}">
                  <a16:creationId xmlns:a16="http://schemas.microsoft.com/office/drawing/2014/main" id="{3C69D8AC-F6DF-CB47-2251-30F75CE2F6A6}"/>
                </a:ext>
              </a:extLst>
            </p:cNvPr>
            <p:cNvSpPr/>
            <p:nvPr/>
          </p:nvSpPr>
          <p:spPr>
            <a:xfrm>
              <a:off x="695435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BD8D421-7DFD-C842-CAE2-4C533E58D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621" y="4342505"/>
              <a:ext cx="0" cy="1033387"/>
            </a:xfrm>
            <a:prstGeom prst="line">
              <a:avLst/>
            </a:prstGeom>
            <a:ln w="19050">
              <a:solidFill>
                <a:srgbClr val="4F9EE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95F7FF7-549E-78E3-727B-87847044C8BE}"/>
                </a:ext>
              </a:extLst>
            </p:cNvPr>
            <p:cNvSpPr/>
            <p:nvPr/>
          </p:nvSpPr>
          <p:spPr>
            <a:xfrm>
              <a:off x="980500" y="5350759"/>
              <a:ext cx="124240" cy="124240"/>
            </a:xfrm>
            <a:prstGeom prst="ellipse">
              <a:avLst/>
            </a:prstGeom>
            <a:solidFill>
              <a:srgbClr val="4F9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B79D5DA-BDB3-A7F5-9DB3-48C6DE296E94}"/>
              </a:ext>
            </a:extLst>
          </p:cNvPr>
          <p:cNvSpPr txBox="1"/>
          <p:nvPr/>
        </p:nvSpPr>
        <p:spPr>
          <a:xfrm>
            <a:off x="357217" y="7208300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4F9EEC"/>
                </a:solidFill>
                <a:latin typeface="+mj-lt"/>
              </a:rPr>
              <a:t>2009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CE490EB-1B4D-231B-1C14-B911A9AE9EB6}"/>
              </a:ext>
            </a:extLst>
          </p:cNvPr>
          <p:cNvGrpSpPr/>
          <p:nvPr/>
        </p:nvGrpSpPr>
        <p:grpSpPr>
          <a:xfrm>
            <a:off x="1520174" y="6986991"/>
            <a:ext cx="517029" cy="1061161"/>
            <a:chOff x="2301254" y="2568391"/>
            <a:chExt cx="919162" cy="1886509"/>
          </a:xfrm>
        </p:grpSpPr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FE631891-FC70-DA77-B35E-6450C67228FD}"/>
                </a:ext>
              </a:extLst>
            </p:cNvPr>
            <p:cNvSpPr/>
            <p:nvPr/>
          </p:nvSpPr>
          <p:spPr>
            <a:xfrm rot="5400000">
              <a:off x="2301254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038ECB7-4D00-65FC-6543-EB4304968A3B}"/>
                </a:ext>
              </a:extLst>
            </p:cNvPr>
            <p:cNvSpPr/>
            <p:nvPr/>
          </p:nvSpPr>
          <p:spPr>
            <a:xfrm>
              <a:off x="2665585" y="3900069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8" name="Circle: Hollow 20">
              <a:extLst>
                <a:ext uri="{FF2B5EF4-FFF2-40B4-BE49-F238E27FC236}">
                  <a16:creationId xmlns:a16="http://schemas.microsoft.com/office/drawing/2014/main" id="{44D37F28-894E-B0CB-D323-E4E3C396C833}"/>
                </a:ext>
              </a:extLst>
            </p:cNvPr>
            <p:cNvSpPr/>
            <p:nvPr/>
          </p:nvSpPr>
          <p:spPr>
            <a:xfrm>
              <a:off x="2546522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29" name="Circle: Hollow 21">
              <a:extLst>
                <a:ext uri="{FF2B5EF4-FFF2-40B4-BE49-F238E27FC236}">
                  <a16:creationId xmlns:a16="http://schemas.microsoft.com/office/drawing/2014/main" id="{057A390E-4524-4EB7-DF1E-A9DF0CAF918E}"/>
                </a:ext>
              </a:extLst>
            </p:cNvPr>
            <p:cNvSpPr/>
            <p:nvPr/>
          </p:nvSpPr>
          <p:spPr>
            <a:xfrm>
              <a:off x="2413650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CA69254-CBAB-88EE-631F-0CA2AB7333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0836" y="2614747"/>
              <a:ext cx="0" cy="1033387"/>
            </a:xfrm>
            <a:prstGeom prst="line">
              <a:avLst/>
            </a:prstGeom>
            <a:ln w="19050">
              <a:solidFill>
                <a:srgbClr val="EE95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9E958BE-B506-8219-5228-DE5CB76BDD0F}"/>
                </a:ext>
              </a:extLst>
            </p:cNvPr>
            <p:cNvSpPr/>
            <p:nvPr/>
          </p:nvSpPr>
          <p:spPr>
            <a:xfrm>
              <a:off x="2698715" y="2568391"/>
              <a:ext cx="124240" cy="12424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47001F4-9BAD-2533-31BA-4A74B4BBC3E4}"/>
              </a:ext>
            </a:extLst>
          </p:cNvPr>
          <p:cNvSpPr txBox="1"/>
          <p:nvPr/>
        </p:nvSpPr>
        <p:spPr>
          <a:xfrm>
            <a:off x="1323713" y="8004623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EE9524"/>
                </a:solidFill>
                <a:latin typeface="+mj-lt"/>
              </a:rPr>
              <a:t>2013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48D16B-42BA-F885-91C5-D187C5F649A5}"/>
              </a:ext>
            </a:extLst>
          </p:cNvPr>
          <p:cNvSpPr txBox="1"/>
          <p:nvPr/>
        </p:nvSpPr>
        <p:spPr>
          <a:xfrm>
            <a:off x="1232678" y="6218203"/>
            <a:ext cx="1315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REDIPRA declares Arequipa rabies-free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E48898A-C529-F273-D43E-9BCE3C6AB71C}"/>
              </a:ext>
            </a:extLst>
          </p:cNvPr>
          <p:cNvGrpSpPr/>
          <p:nvPr/>
        </p:nvGrpSpPr>
        <p:grpSpPr>
          <a:xfrm>
            <a:off x="2578666" y="7531124"/>
            <a:ext cx="517029" cy="1090834"/>
            <a:chOff x="3671809" y="3535738"/>
            <a:chExt cx="919162" cy="1939261"/>
          </a:xfrm>
        </p:grpSpPr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74E4FD63-20ED-CB18-5754-E275F23B3801}"/>
                </a:ext>
              </a:extLst>
            </p:cNvPr>
            <p:cNvSpPr/>
            <p:nvPr/>
          </p:nvSpPr>
          <p:spPr>
            <a:xfrm>
              <a:off x="3671809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9CE602D-0CF9-8771-1723-97E67EC1997E}"/>
                </a:ext>
              </a:extLst>
            </p:cNvPr>
            <p:cNvSpPr/>
            <p:nvPr/>
          </p:nvSpPr>
          <p:spPr>
            <a:xfrm>
              <a:off x="4036140" y="3900069"/>
              <a:ext cx="190500" cy="190500"/>
            </a:xfrm>
            <a:prstGeom prst="ellipse">
              <a:avLst/>
            </a:prstGeom>
            <a:solidFill>
              <a:srgbClr val="EE38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7" name="Circle: Hollow 29">
              <a:extLst>
                <a:ext uri="{FF2B5EF4-FFF2-40B4-BE49-F238E27FC236}">
                  <a16:creationId xmlns:a16="http://schemas.microsoft.com/office/drawing/2014/main" id="{8B89B0D0-347A-38C4-2DA7-8E6E6DCCC26A}"/>
                </a:ext>
              </a:extLst>
            </p:cNvPr>
            <p:cNvSpPr/>
            <p:nvPr/>
          </p:nvSpPr>
          <p:spPr>
            <a:xfrm>
              <a:off x="3917077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EE38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38" name="Circle: Hollow 30">
              <a:extLst>
                <a:ext uri="{FF2B5EF4-FFF2-40B4-BE49-F238E27FC236}">
                  <a16:creationId xmlns:a16="http://schemas.microsoft.com/office/drawing/2014/main" id="{7C0A8759-789A-7A57-C1DB-38808A5FCD5F}"/>
                </a:ext>
              </a:extLst>
            </p:cNvPr>
            <p:cNvSpPr/>
            <p:nvPr/>
          </p:nvSpPr>
          <p:spPr>
            <a:xfrm>
              <a:off x="3784205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9A952BF-C283-AE36-33B1-B3FE84369B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1391" y="4342505"/>
              <a:ext cx="0" cy="1033387"/>
            </a:xfrm>
            <a:prstGeom prst="line">
              <a:avLst/>
            </a:prstGeom>
            <a:ln w="19050">
              <a:solidFill>
                <a:srgbClr val="EE38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C721F54-14AB-C155-C697-AD65C3B812D7}"/>
                </a:ext>
              </a:extLst>
            </p:cNvPr>
            <p:cNvSpPr/>
            <p:nvPr/>
          </p:nvSpPr>
          <p:spPr>
            <a:xfrm>
              <a:off x="4069270" y="5350759"/>
              <a:ext cx="124240" cy="124240"/>
            </a:xfrm>
            <a:prstGeom prst="ellipse">
              <a:avLst/>
            </a:prstGeom>
            <a:solidFill>
              <a:srgbClr val="EE38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921FB71D-30A3-B584-128A-02EDAD7D753A}"/>
              </a:ext>
            </a:extLst>
          </p:cNvPr>
          <p:cNvSpPr txBox="1"/>
          <p:nvPr/>
        </p:nvSpPr>
        <p:spPr>
          <a:xfrm>
            <a:off x="2404302" y="7208300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EE3837"/>
                </a:solidFill>
                <a:latin typeface="+mj-lt"/>
              </a:rPr>
              <a:t>2014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9CC05C-C345-B272-D2AD-04686D2AB0B3}"/>
              </a:ext>
            </a:extLst>
          </p:cNvPr>
          <p:cNvSpPr txBox="1"/>
          <p:nvPr/>
        </p:nvSpPr>
        <p:spPr>
          <a:xfrm>
            <a:off x="2059057" y="8594558"/>
            <a:ext cx="1287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Two canine rabies cases in Camina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F48A00C-95BA-8858-E8E4-B37B40E785E2}"/>
              </a:ext>
            </a:extLst>
          </p:cNvPr>
          <p:cNvGrpSpPr/>
          <p:nvPr/>
        </p:nvGrpSpPr>
        <p:grpSpPr>
          <a:xfrm>
            <a:off x="3637158" y="6986991"/>
            <a:ext cx="517029" cy="1061161"/>
            <a:chOff x="5494125" y="2568391"/>
            <a:chExt cx="919162" cy="1886509"/>
          </a:xfrm>
        </p:grpSpPr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A62A368F-F372-C5BB-F360-97C56B4D2BCA}"/>
                </a:ext>
              </a:extLst>
            </p:cNvPr>
            <p:cNvSpPr/>
            <p:nvPr/>
          </p:nvSpPr>
          <p:spPr>
            <a:xfrm rot="5400000">
              <a:off x="5494125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E4C97FB-B82F-57C3-EFF8-F77DE9D49BD5}"/>
                </a:ext>
              </a:extLst>
            </p:cNvPr>
            <p:cNvSpPr/>
            <p:nvPr/>
          </p:nvSpPr>
          <p:spPr>
            <a:xfrm>
              <a:off x="5858456" y="3900069"/>
              <a:ext cx="190500" cy="190500"/>
            </a:xfrm>
            <a:prstGeom prst="ellipse">
              <a:avLst/>
            </a:prstGeom>
            <a:solidFill>
              <a:srgbClr val="3131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46" name="Circle: Hollow 46">
              <a:extLst>
                <a:ext uri="{FF2B5EF4-FFF2-40B4-BE49-F238E27FC236}">
                  <a16:creationId xmlns:a16="http://schemas.microsoft.com/office/drawing/2014/main" id="{21D363EF-4782-58F8-8DE2-04C04239AC40}"/>
                </a:ext>
              </a:extLst>
            </p:cNvPr>
            <p:cNvSpPr/>
            <p:nvPr/>
          </p:nvSpPr>
          <p:spPr>
            <a:xfrm>
              <a:off x="5739393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3131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47" name="Circle: Hollow 47">
              <a:extLst>
                <a:ext uri="{FF2B5EF4-FFF2-40B4-BE49-F238E27FC236}">
                  <a16:creationId xmlns:a16="http://schemas.microsoft.com/office/drawing/2014/main" id="{893CA9BD-53F3-AD68-E239-287B46B903B4}"/>
                </a:ext>
              </a:extLst>
            </p:cNvPr>
            <p:cNvSpPr/>
            <p:nvPr/>
          </p:nvSpPr>
          <p:spPr>
            <a:xfrm>
              <a:off x="5606521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FFF3350-B049-0816-0C30-BED548412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3707" y="2614747"/>
              <a:ext cx="0" cy="1033387"/>
            </a:xfrm>
            <a:prstGeom prst="line">
              <a:avLst/>
            </a:prstGeom>
            <a:ln w="19050">
              <a:solidFill>
                <a:srgbClr val="3131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62759E3-C3DA-FA97-19AC-9BD3E6341D56}"/>
                </a:ext>
              </a:extLst>
            </p:cNvPr>
            <p:cNvSpPr/>
            <p:nvPr/>
          </p:nvSpPr>
          <p:spPr>
            <a:xfrm>
              <a:off x="5891586" y="2568391"/>
              <a:ext cx="124240" cy="124240"/>
            </a:xfrm>
            <a:prstGeom prst="ellipse">
              <a:avLst/>
            </a:prstGeom>
            <a:solidFill>
              <a:srgbClr val="3131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3E176BD8-B4D1-2C48-52B5-BE14DE442554}"/>
              </a:ext>
            </a:extLst>
          </p:cNvPr>
          <p:cNvSpPr txBox="1"/>
          <p:nvPr/>
        </p:nvSpPr>
        <p:spPr>
          <a:xfrm>
            <a:off x="3498243" y="8004623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3131CC"/>
                </a:solidFill>
                <a:latin typeface="+mj-lt"/>
              </a:rPr>
              <a:t>2015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09211DB-F17C-E478-8709-522B2FD7BF2D}"/>
              </a:ext>
            </a:extLst>
          </p:cNvPr>
          <p:cNvSpPr txBox="1"/>
          <p:nvPr/>
        </p:nvSpPr>
        <p:spPr>
          <a:xfrm>
            <a:off x="3561449" y="6218203"/>
            <a:ext cx="1267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Rabies re-emerges in Arequipa city 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4B0CD8A-E106-C354-6430-D7FCAEDFCA00}"/>
              </a:ext>
            </a:extLst>
          </p:cNvPr>
          <p:cNvGrpSpPr/>
          <p:nvPr/>
        </p:nvGrpSpPr>
        <p:grpSpPr>
          <a:xfrm>
            <a:off x="4695650" y="7531124"/>
            <a:ext cx="517029" cy="1090834"/>
            <a:chOff x="7716291" y="3535738"/>
            <a:chExt cx="919162" cy="1939261"/>
          </a:xfrm>
        </p:grpSpPr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3EE8336E-27C0-379D-8489-5F617E7F4F27}"/>
                </a:ext>
              </a:extLst>
            </p:cNvPr>
            <p:cNvSpPr/>
            <p:nvPr/>
          </p:nvSpPr>
          <p:spPr>
            <a:xfrm>
              <a:off x="7716291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CE24358-DBD8-E4A3-CA91-A7B873E4FC90}"/>
                </a:ext>
              </a:extLst>
            </p:cNvPr>
            <p:cNvSpPr/>
            <p:nvPr/>
          </p:nvSpPr>
          <p:spPr>
            <a:xfrm>
              <a:off x="8080622" y="3900069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55" name="Circle: Hollow 55">
              <a:extLst>
                <a:ext uri="{FF2B5EF4-FFF2-40B4-BE49-F238E27FC236}">
                  <a16:creationId xmlns:a16="http://schemas.microsoft.com/office/drawing/2014/main" id="{DBBD5191-C9CA-8A97-DBD5-1B26E4410ECB}"/>
                </a:ext>
              </a:extLst>
            </p:cNvPr>
            <p:cNvSpPr/>
            <p:nvPr/>
          </p:nvSpPr>
          <p:spPr>
            <a:xfrm>
              <a:off x="7961559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56" name="Circle: Hollow 56">
              <a:extLst>
                <a:ext uri="{FF2B5EF4-FFF2-40B4-BE49-F238E27FC236}">
                  <a16:creationId xmlns:a16="http://schemas.microsoft.com/office/drawing/2014/main" id="{1FDD0C89-D64D-9732-5C5A-2F9F473AE6B3}"/>
                </a:ext>
              </a:extLst>
            </p:cNvPr>
            <p:cNvSpPr/>
            <p:nvPr/>
          </p:nvSpPr>
          <p:spPr>
            <a:xfrm>
              <a:off x="7828687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3191318-5152-D97D-44B4-9C58CB58BD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5873" y="4342505"/>
              <a:ext cx="0" cy="103338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0739ED3-54C5-A676-A721-154BF68DC223}"/>
                </a:ext>
              </a:extLst>
            </p:cNvPr>
            <p:cNvSpPr/>
            <p:nvPr/>
          </p:nvSpPr>
          <p:spPr>
            <a:xfrm>
              <a:off x="8113752" y="5350759"/>
              <a:ext cx="124240" cy="12424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1865846-DC44-F0DA-4DF6-86C324E01F96}"/>
              </a:ext>
            </a:extLst>
          </p:cNvPr>
          <p:cNvSpPr txBox="1"/>
          <p:nvPr/>
        </p:nvSpPr>
        <p:spPr>
          <a:xfrm>
            <a:off x="4486434" y="7208300"/>
            <a:ext cx="1170062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2021/22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71ADBBF-0906-C95A-C4F1-FA318DA15095}"/>
              </a:ext>
            </a:extLst>
          </p:cNvPr>
          <p:cNvSpPr txBox="1"/>
          <p:nvPr/>
        </p:nvSpPr>
        <p:spPr>
          <a:xfrm>
            <a:off x="4315109" y="8594558"/>
            <a:ext cx="1062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Rabies outbreaks in El Pedregal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24159A4-BA1E-C7EE-3AEF-CDD5060A1EF3}"/>
              </a:ext>
            </a:extLst>
          </p:cNvPr>
          <p:cNvCxnSpPr>
            <a:cxnSpLocks/>
          </p:cNvCxnSpPr>
          <p:nvPr/>
        </p:nvCxnSpPr>
        <p:spPr>
          <a:xfrm flipV="1">
            <a:off x="327760" y="9232556"/>
            <a:ext cx="995954" cy="2958"/>
          </a:xfrm>
          <a:prstGeom prst="line">
            <a:avLst/>
          </a:prstGeom>
          <a:ln w="19050">
            <a:solidFill>
              <a:srgbClr val="4F9E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002942F-6C44-86AA-4FF8-12E643E5C1A9}"/>
              </a:ext>
            </a:extLst>
          </p:cNvPr>
          <p:cNvCxnSpPr>
            <a:cxnSpLocks/>
          </p:cNvCxnSpPr>
          <p:nvPr/>
        </p:nvCxnSpPr>
        <p:spPr>
          <a:xfrm>
            <a:off x="2110687" y="9235514"/>
            <a:ext cx="997839" cy="0"/>
          </a:xfrm>
          <a:prstGeom prst="line">
            <a:avLst/>
          </a:prstGeom>
          <a:ln w="19050">
            <a:solidFill>
              <a:srgbClr val="EE38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F502A92-B157-E7E5-8B9F-F758BE6DC000}"/>
              </a:ext>
            </a:extLst>
          </p:cNvPr>
          <p:cNvCxnSpPr>
            <a:cxnSpLocks/>
          </p:cNvCxnSpPr>
          <p:nvPr/>
        </p:nvCxnSpPr>
        <p:spPr>
          <a:xfrm>
            <a:off x="4343294" y="9235514"/>
            <a:ext cx="997839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21ECB7A-494E-86F7-F2F2-40327338E8F3}"/>
              </a:ext>
            </a:extLst>
          </p:cNvPr>
          <p:cNvCxnSpPr>
            <a:cxnSpLocks/>
          </p:cNvCxnSpPr>
          <p:nvPr/>
        </p:nvCxnSpPr>
        <p:spPr>
          <a:xfrm>
            <a:off x="1293117" y="6167130"/>
            <a:ext cx="997839" cy="0"/>
          </a:xfrm>
          <a:prstGeom prst="line">
            <a:avLst/>
          </a:prstGeom>
          <a:ln w="19050">
            <a:solidFill>
              <a:srgbClr val="EE95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F9D6145-E813-1453-EFDB-1B3357D76B2D}"/>
              </a:ext>
            </a:extLst>
          </p:cNvPr>
          <p:cNvCxnSpPr>
            <a:cxnSpLocks/>
          </p:cNvCxnSpPr>
          <p:nvPr/>
        </p:nvCxnSpPr>
        <p:spPr>
          <a:xfrm>
            <a:off x="3623506" y="6167130"/>
            <a:ext cx="997839" cy="0"/>
          </a:xfrm>
          <a:prstGeom prst="line">
            <a:avLst/>
          </a:prstGeom>
          <a:ln w="19050">
            <a:solidFill>
              <a:srgbClr val="3131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3BE5E83-53AC-EE21-E472-C9A96AEBE05B}"/>
              </a:ext>
            </a:extLst>
          </p:cNvPr>
          <p:cNvSpPr txBox="1"/>
          <p:nvPr/>
        </p:nvSpPr>
        <p:spPr>
          <a:xfrm>
            <a:off x="276191" y="8550623"/>
            <a:ext cx="1264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Last detected case in Arequipa region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D8F4F05-D24B-8451-59FF-7765B65D3972}"/>
              </a:ext>
            </a:extLst>
          </p:cNvPr>
          <p:cNvGrpSpPr/>
          <p:nvPr/>
        </p:nvGrpSpPr>
        <p:grpSpPr>
          <a:xfrm>
            <a:off x="5754142" y="6988233"/>
            <a:ext cx="517029" cy="1061161"/>
            <a:chOff x="5267125" y="6580729"/>
            <a:chExt cx="517029" cy="1061161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06F9C82-DC71-D83E-6C44-B17BC79B509C}"/>
                </a:ext>
              </a:extLst>
            </p:cNvPr>
            <p:cNvSpPr/>
            <p:nvPr/>
          </p:nvSpPr>
          <p:spPr>
            <a:xfrm>
              <a:off x="5475090" y="7329797"/>
              <a:ext cx="107156" cy="107156"/>
            </a:xfrm>
            <a:prstGeom prst="ellipse">
              <a:avLst/>
            </a:prstGeom>
            <a:solidFill>
              <a:srgbClr val="714A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79" name="Arc 78">
              <a:extLst>
                <a:ext uri="{FF2B5EF4-FFF2-40B4-BE49-F238E27FC236}">
                  <a16:creationId xmlns:a16="http://schemas.microsoft.com/office/drawing/2014/main" id="{22526B73-1187-DAC4-D2BC-2B5E63FD491D}"/>
                </a:ext>
              </a:extLst>
            </p:cNvPr>
            <p:cNvSpPr/>
            <p:nvPr/>
          </p:nvSpPr>
          <p:spPr>
            <a:xfrm rot="5400000">
              <a:off x="5267126" y="7124861"/>
              <a:ext cx="517028" cy="517029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80" name="Circle: Hollow 46">
              <a:extLst>
                <a:ext uri="{FF2B5EF4-FFF2-40B4-BE49-F238E27FC236}">
                  <a16:creationId xmlns:a16="http://schemas.microsoft.com/office/drawing/2014/main" id="{BCEEE14C-393D-594D-5118-6B3FEA7E2854}"/>
                </a:ext>
              </a:extLst>
            </p:cNvPr>
            <p:cNvSpPr/>
            <p:nvPr/>
          </p:nvSpPr>
          <p:spPr>
            <a:xfrm>
              <a:off x="5405089" y="7262825"/>
              <a:ext cx="241102" cy="241102"/>
            </a:xfrm>
            <a:prstGeom prst="donut">
              <a:avLst>
                <a:gd name="adj" fmla="val 5281"/>
              </a:avLst>
            </a:prstGeom>
            <a:solidFill>
              <a:srgbClr val="714AAC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81" name="Circle: Hollow 47">
              <a:extLst>
                <a:ext uri="{FF2B5EF4-FFF2-40B4-BE49-F238E27FC236}">
                  <a16:creationId xmlns:a16="http://schemas.microsoft.com/office/drawing/2014/main" id="{A70E6E0E-FAA4-50B8-C2A8-7A2B5A6BCA1C}"/>
                </a:ext>
              </a:extLst>
            </p:cNvPr>
            <p:cNvSpPr/>
            <p:nvPr/>
          </p:nvSpPr>
          <p:spPr>
            <a:xfrm>
              <a:off x="5330349" y="7188084"/>
              <a:ext cx="390583" cy="390583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A8E8FCA-DDC2-1EB8-E0DF-777AB0FAFC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5641" y="6606804"/>
              <a:ext cx="0" cy="581280"/>
            </a:xfrm>
            <a:prstGeom prst="line">
              <a:avLst/>
            </a:prstGeom>
            <a:ln w="19050">
              <a:solidFill>
                <a:srgbClr val="714A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2E99DCCB-C77C-2486-C633-9BFDEE860A64}"/>
                </a:ext>
              </a:extLst>
            </p:cNvPr>
            <p:cNvSpPr/>
            <p:nvPr/>
          </p:nvSpPr>
          <p:spPr>
            <a:xfrm>
              <a:off x="5490698" y="6580729"/>
              <a:ext cx="69885" cy="69885"/>
            </a:xfrm>
            <a:prstGeom prst="ellipse">
              <a:avLst/>
            </a:prstGeom>
            <a:solidFill>
              <a:srgbClr val="714AAC"/>
            </a:solidFill>
            <a:ln>
              <a:solidFill>
                <a:srgbClr val="6C3B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E845D137-A148-6C96-FC0E-27B6F6DAF861}"/>
              </a:ext>
            </a:extLst>
          </p:cNvPr>
          <p:cNvSpPr txBox="1"/>
          <p:nvPr/>
        </p:nvSpPr>
        <p:spPr>
          <a:xfrm>
            <a:off x="5586454" y="8004623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714AAC"/>
                </a:solidFill>
                <a:latin typeface="+mj-lt"/>
              </a:rPr>
              <a:t>2025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C41B3D3-FCF5-F4D3-FE8A-E300BD41CA9D}"/>
              </a:ext>
            </a:extLst>
          </p:cNvPr>
          <p:cNvSpPr txBox="1"/>
          <p:nvPr/>
        </p:nvSpPr>
        <p:spPr>
          <a:xfrm>
            <a:off x="5451953" y="6197311"/>
            <a:ext cx="1267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Rabies persistence in Arequipa City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981B249-6AC7-690A-B1E1-C956B9374950}"/>
              </a:ext>
            </a:extLst>
          </p:cNvPr>
          <p:cNvCxnSpPr>
            <a:cxnSpLocks/>
          </p:cNvCxnSpPr>
          <p:nvPr/>
        </p:nvCxnSpPr>
        <p:spPr>
          <a:xfrm>
            <a:off x="5514009" y="6146239"/>
            <a:ext cx="997839" cy="0"/>
          </a:xfrm>
          <a:prstGeom prst="line">
            <a:avLst/>
          </a:prstGeom>
          <a:ln w="19050">
            <a:solidFill>
              <a:srgbClr val="714A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Picture 100">
            <a:extLst>
              <a:ext uri="{FF2B5EF4-FFF2-40B4-BE49-F238E27FC236}">
                <a16:creationId xmlns:a16="http://schemas.microsoft.com/office/drawing/2014/main" id="{F70C3A86-C43D-8F07-3F57-FA868A050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11" y="126329"/>
            <a:ext cx="6477000" cy="5029200"/>
          </a:xfrm>
          <a:prstGeom prst="rect">
            <a:avLst/>
          </a:prstGeom>
        </p:spPr>
      </p:pic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204ABE2-447C-7097-979F-CC101B18C4D9}"/>
              </a:ext>
            </a:extLst>
          </p:cNvPr>
          <p:cNvCxnSpPr>
            <a:cxnSpLocks/>
            <a:stCxn id="41" idx="0"/>
          </p:cNvCxnSpPr>
          <p:nvPr/>
        </p:nvCxnSpPr>
        <p:spPr>
          <a:xfrm flipH="1" flipV="1">
            <a:off x="2470234" y="3576453"/>
            <a:ext cx="360271" cy="3631847"/>
          </a:xfrm>
          <a:prstGeom prst="line">
            <a:avLst/>
          </a:prstGeom>
          <a:ln w="12700">
            <a:solidFill>
              <a:srgbClr val="EE383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AA9FDF9-07F7-BD0A-7E47-46851305F001}"/>
              </a:ext>
            </a:extLst>
          </p:cNvPr>
          <p:cNvCxnSpPr>
            <a:cxnSpLocks/>
          </p:cNvCxnSpPr>
          <p:nvPr/>
        </p:nvCxnSpPr>
        <p:spPr>
          <a:xfrm flipH="1" flipV="1">
            <a:off x="3445873" y="3358602"/>
            <a:ext cx="311582" cy="2737398"/>
          </a:xfrm>
          <a:prstGeom prst="line">
            <a:avLst/>
          </a:prstGeom>
          <a:ln w="12700">
            <a:solidFill>
              <a:srgbClr val="3131CC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56BD920-5B3A-B945-8F1C-F2BB42020707}"/>
              </a:ext>
            </a:extLst>
          </p:cNvPr>
          <p:cNvCxnSpPr>
            <a:cxnSpLocks/>
          </p:cNvCxnSpPr>
          <p:nvPr/>
        </p:nvCxnSpPr>
        <p:spPr>
          <a:xfrm flipH="1" flipV="1">
            <a:off x="3020195" y="3251200"/>
            <a:ext cx="1933970" cy="4020660"/>
          </a:xfrm>
          <a:prstGeom prst="line">
            <a:avLst/>
          </a:prstGeom>
          <a:ln w="12700">
            <a:solidFill>
              <a:srgbClr val="26531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2B87B2ED-0713-EE40-7CAA-E1DAC1938A98}"/>
              </a:ext>
            </a:extLst>
          </p:cNvPr>
          <p:cNvSpPr txBox="1"/>
          <p:nvPr/>
        </p:nvSpPr>
        <p:spPr>
          <a:xfrm>
            <a:off x="3757455" y="5501225"/>
            <a:ext cx="2311808" cy="523220"/>
          </a:xfrm>
          <a:prstGeom prst="rect">
            <a:avLst/>
          </a:prstGeom>
          <a:solidFill>
            <a:schemeClr val="bg1">
              <a:alpha val="63922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Rabies re-emergence and persistence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109F9D6-ECED-B327-5D7A-A455F1F12DC1}"/>
              </a:ext>
            </a:extLst>
          </p:cNvPr>
          <p:cNvSpPr txBox="1"/>
          <p:nvPr/>
        </p:nvSpPr>
        <p:spPr>
          <a:xfrm>
            <a:off x="378445" y="5501225"/>
            <a:ext cx="3027671" cy="523220"/>
          </a:xfrm>
          <a:prstGeom prst="rect">
            <a:avLst/>
          </a:prstGeom>
          <a:solidFill>
            <a:srgbClr val="F2F2F2">
              <a:alpha val="58431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16 years of epidemiological silence in Arequipa City</a:t>
            </a:r>
          </a:p>
        </p:txBody>
      </p:sp>
    </p:spTree>
    <p:extLst>
      <p:ext uri="{BB962C8B-B14F-4D97-AF65-F5344CB8AC3E}">
        <p14:creationId xmlns:p14="http://schemas.microsoft.com/office/powerpoint/2010/main" val="956151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60FA2-A613-32BE-5418-DFAE31934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D42AB9-2EBD-5DBB-91BF-BC7B462A28E8}"/>
              </a:ext>
            </a:extLst>
          </p:cNvPr>
          <p:cNvSpPr/>
          <p:nvPr/>
        </p:nvSpPr>
        <p:spPr>
          <a:xfrm>
            <a:off x="198120" y="1178878"/>
            <a:ext cx="3401506" cy="3939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51B36D-FFEC-909C-C975-8BECDBE43B0A}"/>
              </a:ext>
            </a:extLst>
          </p:cNvPr>
          <p:cNvCxnSpPr/>
          <p:nvPr/>
        </p:nvCxnSpPr>
        <p:spPr>
          <a:xfrm>
            <a:off x="2978719" y="3495932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5EB51A-61B1-A9F0-2ED2-2D2A72A1B861}"/>
              </a:ext>
            </a:extLst>
          </p:cNvPr>
          <p:cNvCxnSpPr/>
          <p:nvPr/>
        </p:nvCxnSpPr>
        <p:spPr>
          <a:xfrm>
            <a:off x="4237552" y="3495932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B4CBAA0-C89C-F642-4CA3-1C8A5F21717D}"/>
              </a:ext>
            </a:extLst>
          </p:cNvPr>
          <p:cNvCxnSpPr>
            <a:cxnSpLocks/>
          </p:cNvCxnSpPr>
          <p:nvPr/>
        </p:nvCxnSpPr>
        <p:spPr>
          <a:xfrm flipV="1">
            <a:off x="5504792" y="3495931"/>
            <a:ext cx="1144486" cy="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D70618-FD79-436B-19E6-587E9F972AA7}"/>
              </a:ext>
            </a:extLst>
          </p:cNvPr>
          <p:cNvCxnSpPr/>
          <p:nvPr/>
        </p:nvCxnSpPr>
        <p:spPr>
          <a:xfrm>
            <a:off x="1705360" y="3495932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5A44DC-CA43-9618-0151-CBDAF007E198}"/>
              </a:ext>
            </a:extLst>
          </p:cNvPr>
          <p:cNvCxnSpPr>
            <a:cxnSpLocks/>
            <a:stCxn id="21" idx="6"/>
          </p:cNvCxnSpPr>
          <p:nvPr/>
        </p:nvCxnSpPr>
        <p:spPr>
          <a:xfrm>
            <a:off x="978712" y="3495932"/>
            <a:ext cx="1418046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C5DC04-52AF-48EF-6FF7-16AE97E4F81E}"/>
              </a:ext>
            </a:extLst>
          </p:cNvPr>
          <p:cNvCxnSpPr>
            <a:cxnSpLocks/>
          </p:cNvCxnSpPr>
          <p:nvPr/>
        </p:nvCxnSpPr>
        <p:spPr>
          <a:xfrm>
            <a:off x="196946" y="3495932"/>
            <a:ext cx="546163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>
            <a:extLst>
              <a:ext uri="{FF2B5EF4-FFF2-40B4-BE49-F238E27FC236}">
                <a16:creationId xmlns:a16="http://schemas.microsoft.com/office/drawing/2014/main" id="{1AC59209-925D-AC20-D539-C6391ECAF048}"/>
              </a:ext>
            </a:extLst>
          </p:cNvPr>
          <p:cNvSpPr/>
          <p:nvPr/>
        </p:nvSpPr>
        <p:spPr>
          <a:xfrm>
            <a:off x="524905" y="3237417"/>
            <a:ext cx="517029" cy="517029"/>
          </a:xfrm>
          <a:prstGeom prst="arc">
            <a:avLst>
              <a:gd name="adj1" fmla="val 5420354"/>
              <a:gd name="adj2" fmla="val 10853341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EA3F121-6890-C8F1-EFFB-6D5D633FDEEC}"/>
              </a:ext>
            </a:extLst>
          </p:cNvPr>
          <p:cNvGrpSpPr/>
          <p:nvPr/>
        </p:nvGrpSpPr>
        <p:grpSpPr>
          <a:xfrm>
            <a:off x="588128" y="3300640"/>
            <a:ext cx="390583" cy="1027612"/>
            <a:chOff x="695435" y="3648134"/>
            <a:chExt cx="694370" cy="182686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CAABDF0-72E9-D117-7349-0DEB1A0D05E1}"/>
                </a:ext>
              </a:extLst>
            </p:cNvPr>
            <p:cNvSpPr/>
            <p:nvPr/>
          </p:nvSpPr>
          <p:spPr>
            <a:xfrm>
              <a:off x="947370" y="3900069"/>
              <a:ext cx="190500" cy="190500"/>
            </a:xfrm>
            <a:prstGeom prst="ellipse">
              <a:avLst/>
            </a:prstGeom>
            <a:solidFill>
              <a:srgbClr val="4F9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0" name="Circle: Hollow 8">
              <a:extLst>
                <a:ext uri="{FF2B5EF4-FFF2-40B4-BE49-F238E27FC236}">
                  <a16:creationId xmlns:a16="http://schemas.microsoft.com/office/drawing/2014/main" id="{3EE21595-AE55-3331-2720-0251DBD02AF3}"/>
                </a:ext>
              </a:extLst>
            </p:cNvPr>
            <p:cNvSpPr/>
            <p:nvPr/>
          </p:nvSpPr>
          <p:spPr>
            <a:xfrm>
              <a:off x="828307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4F9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21" name="Circle: Hollow 9">
              <a:extLst>
                <a:ext uri="{FF2B5EF4-FFF2-40B4-BE49-F238E27FC236}">
                  <a16:creationId xmlns:a16="http://schemas.microsoft.com/office/drawing/2014/main" id="{5F0D4A84-767A-7470-2595-C3D5A8344182}"/>
                </a:ext>
              </a:extLst>
            </p:cNvPr>
            <p:cNvSpPr/>
            <p:nvPr/>
          </p:nvSpPr>
          <p:spPr>
            <a:xfrm>
              <a:off x="695435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FE3E593-090D-3575-CC16-11A5D5B9AD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621" y="4342505"/>
              <a:ext cx="0" cy="1033387"/>
            </a:xfrm>
            <a:prstGeom prst="line">
              <a:avLst/>
            </a:prstGeom>
            <a:ln w="19050">
              <a:solidFill>
                <a:srgbClr val="4F9EE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570D914-9380-7B9C-2CFD-3E03D21F49B2}"/>
                </a:ext>
              </a:extLst>
            </p:cNvPr>
            <p:cNvSpPr/>
            <p:nvPr/>
          </p:nvSpPr>
          <p:spPr>
            <a:xfrm>
              <a:off x="980500" y="5350759"/>
              <a:ext cx="124240" cy="124240"/>
            </a:xfrm>
            <a:prstGeom prst="ellipse">
              <a:avLst/>
            </a:prstGeom>
            <a:solidFill>
              <a:srgbClr val="4F9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AB60AD9-1AED-EF81-21A0-BEA0134972B6}"/>
              </a:ext>
            </a:extLst>
          </p:cNvPr>
          <p:cNvSpPr txBox="1"/>
          <p:nvPr/>
        </p:nvSpPr>
        <p:spPr>
          <a:xfrm>
            <a:off x="357217" y="2914594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4F9EEC"/>
                </a:solidFill>
                <a:latin typeface="+mj-lt"/>
              </a:rPr>
              <a:t>2009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6058002-CC35-B696-E8AA-BA6B7B2EE4F6}"/>
              </a:ext>
            </a:extLst>
          </p:cNvPr>
          <p:cNvGrpSpPr/>
          <p:nvPr/>
        </p:nvGrpSpPr>
        <p:grpSpPr>
          <a:xfrm>
            <a:off x="1520174" y="2693285"/>
            <a:ext cx="517029" cy="1061161"/>
            <a:chOff x="2301254" y="2568391"/>
            <a:chExt cx="919162" cy="1886509"/>
          </a:xfrm>
        </p:grpSpPr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5B905A52-E59A-B9C3-DF87-FBBCD996EBDA}"/>
                </a:ext>
              </a:extLst>
            </p:cNvPr>
            <p:cNvSpPr/>
            <p:nvPr/>
          </p:nvSpPr>
          <p:spPr>
            <a:xfrm rot="5400000">
              <a:off x="2301254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297D347-45EC-CAF5-FE99-D50BF8C11A0E}"/>
                </a:ext>
              </a:extLst>
            </p:cNvPr>
            <p:cNvSpPr/>
            <p:nvPr/>
          </p:nvSpPr>
          <p:spPr>
            <a:xfrm>
              <a:off x="2665585" y="3900069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8" name="Circle: Hollow 20">
              <a:extLst>
                <a:ext uri="{FF2B5EF4-FFF2-40B4-BE49-F238E27FC236}">
                  <a16:creationId xmlns:a16="http://schemas.microsoft.com/office/drawing/2014/main" id="{EF6C4EAB-A983-FAE8-7D71-019A8C96F21E}"/>
                </a:ext>
              </a:extLst>
            </p:cNvPr>
            <p:cNvSpPr/>
            <p:nvPr/>
          </p:nvSpPr>
          <p:spPr>
            <a:xfrm>
              <a:off x="2546522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29" name="Circle: Hollow 21">
              <a:extLst>
                <a:ext uri="{FF2B5EF4-FFF2-40B4-BE49-F238E27FC236}">
                  <a16:creationId xmlns:a16="http://schemas.microsoft.com/office/drawing/2014/main" id="{E9E38856-17CE-C7D7-3405-AF6FD052BC85}"/>
                </a:ext>
              </a:extLst>
            </p:cNvPr>
            <p:cNvSpPr/>
            <p:nvPr/>
          </p:nvSpPr>
          <p:spPr>
            <a:xfrm>
              <a:off x="2413650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9E1DD18-2823-484B-B265-480B93D81B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0836" y="2614747"/>
              <a:ext cx="0" cy="1033387"/>
            </a:xfrm>
            <a:prstGeom prst="line">
              <a:avLst/>
            </a:prstGeom>
            <a:ln w="19050">
              <a:solidFill>
                <a:srgbClr val="EE95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6F39207-8351-7CBF-DF0D-A8FFBA6D1F97}"/>
                </a:ext>
              </a:extLst>
            </p:cNvPr>
            <p:cNvSpPr/>
            <p:nvPr/>
          </p:nvSpPr>
          <p:spPr>
            <a:xfrm>
              <a:off x="2698715" y="2568391"/>
              <a:ext cx="124240" cy="12424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6A85AE8-945D-8249-C39B-2610754CC29E}"/>
              </a:ext>
            </a:extLst>
          </p:cNvPr>
          <p:cNvSpPr txBox="1"/>
          <p:nvPr/>
        </p:nvSpPr>
        <p:spPr>
          <a:xfrm>
            <a:off x="1323713" y="3710917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EE9524"/>
                </a:solidFill>
                <a:latin typeface="+mj-lt"/>
              </a:rPr>
              <a:t>2013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F7376D-9B90-65DE-9AC4-F85D9DBA42A3}"/>
              </a:ext>
            </a:extLst>
          </p:cNvPr>
          <p:cNvSpPr txBox="1"/>
          <p:nvPr/>
        </p:nvSpPr>
        <p:spPr>
          <a:xfrm>
            <a:off x="1232678" y="1924497"/>
            <a:ext cx="1315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REDIPRA declares Arequipa rabies-free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07E41B5-FB4B-C46C-F1F9-A3C815056C1B}"/>
              </a:ext>
            </a:extLst>
          </p:cNvPr>
          <p:cNvGrpSpPr/>
          <p:nvPr/>
        </p:nvGrpSpPr>
        <p:grpSpPr>
          <a:xfrm>
            <a:off x="2578666" y="3237418"/>
            <a:ext cx="517029" cy="1090834"/>
            <a:chOff x="3671809" y="3535738"/>
            <a:chExt cx="919162" cy="1939261"/>
          </a:xfrm>
        </p:grpSpPr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29BE8588-3C49-20F7-91FE-07FF2E0172A8}"/>
                </a:ext>
              </a:extLst>
            </p:cNvPr>
            <p:cNvSpPr/>
            <p:nvPr/>
          </p:nvSpPr>
          <p:spPr>
            <a:xfrm>
              <a:off x="3671809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20815EB-F3B2-BDF1-4A2B-2599C27B04D8}"/>
                </a:ext>
              </a:extLst>
            </p:cNvPr>
            <p:cNvSpPr/>
            <p:nvPr/>
          </p:nvSpPr>
          <p:spPr>
            <a:xfrm>
              <a:off x="4036140" y="3900069"/>
              <a:ext cx="190500" cy="190500"/>
            </a:xfrm>
            <a:prstGeom prst="ellipse">
              <a:avLst/>
            </a:prstGeom>
            <a:solidFill>
              <a:srgbClr val="EE38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7" name="Circle: Hollow 29">
              <a:extLst>
                <a:ext uri="{FF2B5EF4-FFF2-40B4-BE49-F238E27FC236}">
                  <a16:creationId xmlns:a16="http://schemas.microsoft.com/office/drawing/2014/main" id="{73639E07-0887-BB45-CE5E-2E31DA88A785}"/>
                </a:ext>
              </a:extLst>
            </p:cNvPr>
            <p:cNvSpPr/>
            <p:nvPr/>
          </p:nvSpPr>
          <p:spPr>
            <a:xfrm>
              <a:off x="3917077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EE38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38" name="Circle: Hollow 30">
              <a:extLst>
                <a:ext uri="{FF2B5EF4-FFF2-40B4-BE49-F238E27FC236}">
                  <a16:creationId xmlns:a16="http://schemas.microsoft.com/office/drawing/2014/main" id="{BB114F85-0B0E-88C7-3C44-A622A0CA9B14}"/>
                </a:ext>
              </a:extLst>
            </p:cNvPr>
            <p:cNvSpPr/>
            <p:nvPr/>
          </p:nvSpPr>
          <p:spPr>
            <a:xfrm>
              <a:off x="3784205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25AD4C3-8D2E-2763-86A3-103331A37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1391" y="4342505"/>
              <a:ext cx="0" cy="1033387"/>
            </a:xfrm>
            <a:prstGeom prst="line">
              <a:avLst/>
            </a:prstGeom>
            <a:ln w="19050">
              <a:solidFill>
                <a:srgbClr val="EE38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31FCD6E-9B43-61DA-B6A7-D9311BC25E85}"/>
                </a:ext>
              </a:extLst>
            </p:cNvPr>
            <p:cNvSpPr/>
            <p:nvPr/>
          </p:nvSpPr>
          <p:spPr>
            <a:xfrm>
              <a:off x="4069270" y="5350759"/>
              <a:ext cx="124240" cy="124240"/>
            </a:xfrm>
            <a:prstGeom prst="ellipse">
              <a:avLst/>
            </a:prstGeom>
            <a:solidFill>
              <a:srgbClr val="EE38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3896807-99FB-458F-3666-1F889A9CDDBC}"/>
              </a:ext>
            </a:extLst>
          </p:cNvPr>
          <p:cNvSpPr txBox="1"/>
          <p:nvPr/>
        </p:nvSpPr>
        <p:spPr>
          <a:xfrm>
            <a:off x="2404302" y="2914594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EE3837"/>
                </a:solidFill>
                <a:latin typeface="+mj-lt"/>
              </a:rPr>
              <a:t>2014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BD7070-0EF3-9E83-0C24-38C472020EE3}"/>
              </a:ext>
            </a:extLst>
          </p:cNvPr>
          <p:cNvSpPr txBox="1"/>
          <p:nvPr/>
        </p:nvSpPr>
        <p:spPr>
          <a:xfrm>
            <a:off x="2059057" y="4300852"/>
            <a:ext cx="1287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Two canine rabies cases in Camina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F51F279-0F28-96C4-C39B-D4C4BCBE2628}"/>
              </a:ext>
            </a:extLst>
          </p:cNvPr>
          <p:cNvGrpSpPr/>
          <p:nvPr/>
        </p:nvGrpSpPr>
        <p:grpSpPr>
          <a:xfrm>
            <a:off x="3637158" y="2693285"/>
            <a:ext cx="517029" cy="1061161"/>
            <a:chOff x="5494125" y="2568391"/>
            <a:chExt cx="919162" cy="1886509"/>
          </a:xfrm>
        </p:grpSpPr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5584B2B4-9E84-E5C9-0DD7-43F30112B297}"/>
                </a:ext>
              </a:extLst>
            </p:cNvPr>
            <p:cNvSpPr/>
            <p:nvPr/>
          </p:nvSpPr>
          <p:spPr>
            <a:xfrm rot="5400000">
              <a:off x="5494125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D591565-05B0-7BCF-863E-629D08C52036}"/>
                </a:ext>
              </a:extLst>
            </p:cNvPr>
            <p:cNvSpPr/>
            <p:nvPr/>
          </p:nvSpPr>
          <p:spPr>
            <a:xfrm>
              <a:off x="5858456" y="3900069"/>
              <a:ext cx="190500" cy="190500"/>
            </a:xfrm>
            <a:prstGeom prst="ellipse">
              <a:avLst/>
            </a:prstGeom>
            <a:solidFill>
              <a:srgbClr val="3131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46" name="Circle: Hollow 46">
              <a:extLst>
                <a:ext uri="{FF2B5EF4-FFF2-40B4-BE49-F238E27FC236}">
                  <a16:creationId xmlns:a16="http://schemas.microsoft.com/office/drawing/2014/main" id="{6D365D4E-DCF1-7943-A4AD-2F0929AAFE45}"/>
                </a:ext>
              </a:extLst>
            </p:cNvPr>
            <p:cNvSpPr/>
            <p:nvPr/>
          </p:nvSpPr>
          <p:spPr>
            <a:xfrm>
              <a:off x="5739393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3131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47" name="Circle: Hollow 47">
              <a:extLst>
                <a:ext uri="{FF2B5EF4-FFF2-40B4-BE49-F238E27FC236}">
                  <a16:creationId xmlns:a16="http://schemas.microsoft.com/office/drawing/2014/main" id="{8BC8CC05-5187-1846-4F7A-E3861D42C029}"/>
                </a:ext>
              </a:extLst>
            </p:cNvPr>
            <p:cNvSpPr/>
            <p:nvPr/>
          </p:nvSpPr>
          <p:spPr>
            <a:xfrm>
              <a:off x="5606521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9E6A72A-A516-0420-3D11-6E4F141B1E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3707" y="2614747"/>
              <a:ext cx="0" cy="1033387"/>
            </a:xfrm>
            <a:prstGeom prst="line">
              <a:avLst/>
            </a:prstGeom>
            <a:ln w="19050">
              <a:solidFill>
                <a:srgbClr val="3131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8E4208C-C69E-C867-E478-261EC69F0508}"/>
                </a:ext>
              </a:extLst>
            </p:cNvPr>
            <p:cNvSpPr/>
            <p:nvPr/>
          </p:nvSpPr>
          <p:spPr>
            <a:xfrm>
              <a:off x="5891586" y="2568391"/>
              <a:ext cx="124240" cy="124240"/>
            </a:xfrm>
            <a:prstGeom prst="ellipse">
              <a:avLst/>
            </a:prstGeom>
            <a:solidFill>
              <a:srgbClr val="3131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2096AE3E-8EB2-0F57-A3EC-A310668A2DD0}"/>
              </a:ext>
            </a:extLst>
          </p:cNvPr>
          <p:cNvSpPr txBox="1"/>
          <p:nvPr/>
        </p:nvSpPr>
        <p:spPr>
          <a:xfrm>
            <a:off x="3498243" y="3710917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3131CC"/>
                </a:solidFill>
                <a:latin typeface="+mj-lt"/>
              </a:rPr>
              <a:t>2015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E650D8-395D-D60D-22F3-B427BEFA2FA5}"/>
              </a:ext>
            </a:extLst>
          </p:cNvPr>
          <p:cNvSpPr txBox="1"/>
          <p:nvPr/>
        </p:nvSpPr>
        <p:spPr>
          <a:xfrm>
            <a:off x="3561449" y="1924497"/>
            <a:ext cx="1267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Rabies re-emerges in Arequipa city 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E59A72A-F732-9ADF-CCA8-6D6AF923FDE7}"/>
              </a:ext>
            </a:extLst>
          </p:cNvPr>
          <p:cNvGrpSpPr/>
          <p:nvPr/>
        </p:nvGrpSpPr>
        <p:grpSpPr>
          <a:xfrm>
            <a:off x="4695650" y="3237418"/>
            <a:ext cx="517029" cy="1090834"/>
            <a:chOff x="7716291" y="3535738"/>
            <a:chExt cx="919162" cy="1939261"/>
          </a:xfrm>
        </p:grpSpPr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353E5F66-5B69-DCA9-D1B7-E7CFFEF13CF1}"/>
                </a:ext>
              </a:extLst>
            </p:cNvPr>
            <p:cNvSpPr/>
            <p:nvPr/>
          </p:nvSpPr>
          <p:spPr>
            <a:xfrm>
              <a:off x="7716291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56E46D7-5921-4150-6DC7-91B74D664115}"/>
                </a:ext>
              </a:extLst>
            </p:cNvPr>
            <p:cNvSpPr/>
            <p:nvPr/>
          </p:nvSpPr>
          <p:spPr>
            <a:xfrm>
              <a:off x="8080622" y="3900069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55" name="Circle: Hollow 55">
              <a:extLst>
                <a:ext uri="{FF2B5EF4-FFF2-40B4-BE49-F238E27FC236}">
                  <a16:creationId xmlns:a16="http://schemas.microsoft.com/office/drawing/2014/main" id="{60D9FFA2-0EFA-8901-1450-DC455FCBDFF7}"/>
                </a:ext>
              </a:extLst>
            </p:cNvPr>
            <p:cNvSpPr/>
            <p:nvPr/>
          </p:nvSpPr>
          <p:spPr>
            <a:xfrm>
              <a:off x="7961559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56" name="Circle: Hollow 56">
              <a:extLst>
                <a:ext uri="{FF2B5EF4-FFF2-40B4-BE49-F238E27FC236}">
                  <a16:creationId xmlns:a16="http://schemas.microsoft.com/office/drawing/2014/main" id="{A17D6133-AD0A-80B9-F269-0FF93F0E4052}"/>
                </a:ext>
              </a:extLst>
            </p:cNvPr>
            <p:cNvSpPr/>
            <p:nvPr/>
          </p:nvSpPr>
          <p:spPr>
            <a:xfrm>
              <a:off x="7828687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CD7FDB5-7818-ED34-2CEF-F3DECB3114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5873" y="4342505"/>
              <a:ext cx="0" cy="103338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78049E0-644F-841E-A0F2-9FA0975CF1D1}"/>
                </a:ext>
              </a:extLst>
            </p:cNvPr>
            <p:cNvSpPr/>
            <p:nvPr/>
          </p:nvSpPr>
          <p:spPr>
            <a:xfrm>
              <a:off x="8113752" y="5350759"/>
              <a:ext cx="124240" cy="12424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9C96E455-914C-CA7C-D60C-DCDCF2D4B86D}"/>
              </a:ext>
            </a:extLst>
          </p:cNvPr>
          <p:cNvSpPr txBox="1"/>
          <p:nvPr/>
        </p:nvSpPr>
        <p:spPr>
          <a:xfrm>
            <a:off x="4486434" y="2914594"/>
            <a:ext cx="1170062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2021/22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414E0DF-88F4-F379-6082-395641DE5D75}"/>
              </a:ext>
            </a:extLst>
          </p:cNvPr>
          <p:cNvSpPr txBox="1"/>
          <p:nvPr/>
        </p:nvSpPr>
        <p:spPr>
          <a:xfrm>
            <a:off x="4315109" y="4300852"/>
            <a:ext cx="1062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Rabies outbreaks in El Pedregal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F4A948E-A411-5222-DC49-3A0FE144B9B3}"/>
              </a:ext>
            </a:extLst>
          </p:cNvPr>
          <p:cNvCxnSpPr>
            <a:cxnSpLocks/>
          </p:cNvCxnSpPr>
          <p:nvPr/>
        </p:nvCxnSpPr>
        <p:spPr>
          <a:xfrm flipV="1">
            <a:off x="327760" y="4938850"/>
            <a:ext cx="995954" cy="2958"/>
          </a:xfrm>
          <a:prstGeom prst="line">
            <a:avLst/>
          </a:prstGeom>
          <a:ln w="19050">
            <a:solidFill>
              <a:srgbClr val="4F9E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7097E47-21AA-01D4-EE41-F1DF5E22D797}"/>
              </a:ext>
            </a:extLst>
          </p:cNvPr>
          <p:cNvCxnSpPr>
            <a:cxnSpLocks/>
          </p:cNvCxnSpPr>
          <p:nvPr/>
        </p:nvCxnSpPr>
        <p:spPr>
          <a:xfrm>
            <a:off x="2110687" y="4941808"/>
            <a:ext cx="997839" cy="0"/>
          </a:xfrm>
          <a:prstGeom prst="line">
            <a:avLst/>
          </a:prstGeom>
          <a:ln w="19050">
            <a:solidFill>
              <a:srgbClr val="EE38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C9795E8-DAB0-D451-B223-00E4A18B1B22}"/>
              </a:ext>
            </a:extLst>
          </p:cNvPr>
          <p:cNvCxnSpPr>
            <a:cxnSpLocks/>
          </p:cNvCxnSpPr>
          <p:nvPr/>
        </p:nvCxnSpPr>
        <p:spPr>
          <a:xfrm>
            <a:off x="4343294" y="4941808"/>
            <a:ext cx="997839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93A41B0-88C0-E895-8487-7BE5680C3438}"/>
              </a:ext>
            </a:extLst>
          </p:cNvPr>
          <p:cNvCxnSpPr>
            <a:cxnSpLocks/>
          </p:cNvCxnSpPr>
          <p:nvPr/>
        </p:nvCxnSpPr>
        <p:spPr>
          <a:xfrm>
            <a:off x="1293117" y="1873424"/>
            <a:ext cx="997839" cy="0"/>
          </a:xfrm>
          <a:prstGeom prst="line">
            <a:avLst/>
          </a:prstGeom>
          <a:ln w="19050">
            <a:solidFill>
              <a:srgbClr val="EE95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D545CF5-955D-8C12-DEB2-959A53F247A5}"/>
              </a:ext>
            </a:extLst>
          </p:cNvPr>
          <p:cNvCxnSpPr>
            <a:cxnSpLocks/>
          </p:cNvCxnSpPr>
          <p:nvPr/>
        </p:nvCxnSpPr>
        <p:spPr>
          <a:xfrm>
            <a:off x="3623506" y="1873424"/>
            <a:ext cx="997839" cy="0"/>
          </a:xfrm>
          <a:prstGeom prst="line">
            <a:avLst/>
          </a:prstGeom>
          <a:ln w="19050">
            <a:solidFill>
              <a:srgbClr val="3131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A208F44-28A3-CB52-9012-C62DF41967E9}"/>
              </a:ext>
            </a:extLst>
          </p:cNvPr>
          <p:cNvSpPr txBox="1"/>
          <p:nvPr/>
        </p:nvSpPr>
        <p:spPr>
          <a:xfrm>
            <a:off x="276191" y="4256917"/>
            <a:ext cx="1264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Last detected case in Arequipa region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E1DB568-5DF3-FBD2-AF3A-18C65582B05D}"/>
              </a:ext>
            </a:extLst>
          </p:cNvPr>
          <p:cNvGrpSpPr/>
          <p:nvPr/>
        </p:nvGrpSpPr>
        <p:grpSpPr>
          <a:xfrm>
            <a:off x="5754142" y="2694527"/>
            <a:ext cx="517029" cy="1061161"/>
            <a:chOff x="5267125" y="6580729"/>
            <a:chExt cx="517029" cy="1061161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5B071972-A740-0E8F-A197-3A4452558EE2}"/>
                </a:ext>
              </a:extLst>
            </p:cNvPr>
            <p:cNvSpPr/>
            <p:nvPr/>
          </p:nvSpPr>
          <p:spPr>
            <a:xfrm>
              <a:off x="5475090" y="7329797"/>
              <a:ext cx="107156" cy="107156"/>
            </a:xfrm>
            <a:prstGeom prst="ellipse">
              <a:avLst/>
            </a:prstGeom>
            <a:solidFill>
              <a:srgbClr val="714A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79" name="Arc 78">
              <a:extLst>
                <a:ext uri="{FF2B5EF4-FFF2-40B4-BE49-F238E27FC236}">
                  <a16:creationId xmlns:a16="http://schemas.microsoft.com/office/drawing/2014/main" id="{AF582F5F-1CF2-BBF8-EC1A-48598EDA1318}"/>
                </a:ext>
              </a:extLst>
            </p:cNvPr>
            <p:cNvSpPr/>
            <p:nvPr/>
          </p:nvSpPr>
          <p:spPr>
            <a:xfrm rot="5400000">
              <a:off x="5267126" y="7124861"/>
              <a:ext cx="517028" cy="517029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80" name="Circle: Hollow 46">
              <a:extLst>
                <a:ext uri="{FF2B5EF4-FFF2-40B4-BE49-F238E27FC236}">
                  <a16:creationId xmlns:a16="http://schemas.microsoft.com/office/drawing/2014/main" id="{F402DAE2-CF97-772B-7210-EC6C3A60304D}"/>
                </a:ext>
              </a:extLst>
            </p:cNvPr>
            <p:cNvSpPr/>
            <p:nvPr/>
          </p:nvSpPr>
          <p:spPr>
            <a:xfrm>
              <a:off x="5405089" y="7262825"/>
              <a:ext cx="241102" cy="241102"/>
            </a:xfrm>
            <a:prstGeom prst="donut">
              <a:avLst>
                <a:gd name="adj" fmla="val 5281"/>
              </a:avLst>
            </a:prstGeom>
            <a:solidFill>
              <a:srgbClr val="714AAC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81" name="Circle: Hollow 47">
              <a:extLst>
                <a:ext uri="{FF2B5EF4-FFF2-40B4-BE49-F238E27FC236}">
                  <a16:creationId xmlns:a16="http://schemas.microsoft.com/office/drawing/2014/main" id="{FA676767-5658-177A-3304-0BC1EE7765AB}"/>
                </a:ext>
              </a:extLst>
            </p:cNvPr>
            <p:cNvSpPr/>
            <p:nvPr/>
          </p:nvSpPr>
          <p:spPr>
            <a:xfrm>
              <a:off x="5330349" y="7188084"/>
              <a:ext cx="390583" cy="390583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1AE885B2-1B83-E45C-ECFA-5724ADE65A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5641" y="6606804"/>
              <a:ext cx="0" cy="581280"/>
            </a:xfrm>
            <a:prstGeom prst="line">
              <a:avLst/>
            </a:prstGeom>
            <a:ln w="19050">
              <a:solidFill>
                <a:srgbClr val="714A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D05E02B4-A3F3-46AB-2B2E-CB78B90290BA}"/>
                </a:ext>
              </a:extLst>
            </p:cNvPr>
            <p:cNvSpPr/>
            <p:nvPr/>
          </p:nvSpPr>
          <p:spPr>
            <a:xfrm>
              <a:off x="5490698" y="6580729"/>
              <a:ext cx="69885" cy="69885"/>
            </a:xfrm>
            <a:prstGeom prst="ellipse">
              <a:avLst/>
            </a:prstGeom>
            <a:solidFill>
              <a:srgbClr val="714AAC"/>
            </a:solidFill>
            <a:ln>
              <a:solidFill>
                <a:srgbClr val="6C3B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DDBEBB28-75F7-CE69-9C72-E48ADEFEC9B0}"/>
              </a:ext>
            </a:extLst>
          </p:cNvPr>
          <p:cNvSpPr txBox="1"/>
          <p:nvPr/>
        </p:nvSpPr>
        <p:spPr>
          <a:xfrm>
            <a:off x="5586454" y="3710917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714AAC"/>
                </a:solidFill>
                <a:latin typeface="+mj-lt"/>
              </a:rPr>
              <a:t>2025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08B3507-0F1F-1897-8964-8F20AAA3244B}"/>
              </a:ext>
            </a:extLst>
          </p:cNvPr>
          <p:cNvSpPr txBox="1"/>
          <p:nvPr/>
        </p:nvSpPr>
        <p:spPr>
          <a:xfrm>
            <a:off x="5451953" y="1903605"/>
            <a:ext cx="1267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Rabies persistence in Arequipa City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4C996E8-5920-D2B3-2922-AE16BC2CFD51}"/>
              </a:ext>
            </a:extLst>
          </p:cNvPr>
          <p:cNvCxnSpPr>
            <a:cxnSpLocks/>
          </p:cNvCxnSpPr>
          <p:nvPr/>
        </p:nvCxnSpPr>
        <p:spPr>
          <a:xfrm>
            <a:off x="5514009" y="1852533"/>
            <a:ext cx="997839" cy="0"/>
          </a:xfrm>
          <a:prstGeom prst="line">
            <a:avLst/>
          </a:prstGeom>
          <a:ln w="19050">
            <a:solidFill>
              <a:srgbClr val="714A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Picture 100">
            <a:extLst>
              <a:ext uri="{FF2B5EF4-FFF2-40B4-BE49-F238E27FC236}">
                <a16:creationId xmlns:a16="http://schemas.microsoft.com/office/drawing/2014/main" id="{EB341698-7FBE-EC22-A734-AF4176120CB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07373" y="5118645"/>
            <a:ext cx="6492240" cy="5025010"/>
          </a:xfrm>
          <a:prstGeom prst="rect">
            <a:avLst/>
          </a:prstGeom>
        </p:spPr>
      </p:pic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4CA77EC-8707-8528-0B0B-1808FCA17428}"/>
              </a:ext>
            </a:extLst>
          </p:cNvPr>
          <p:cNvCxnSpPr>
            <a:cxnSpLocks/>
          </p:cNvCxnSpPr>
          <p:nvPr/>
        </p:nvCxnSpPr>
        <p:spPr>
          <a:xfrm flipV="1">
            <a:off x="2434356" y="4969208"/>
            <a:ext cx="183364" cy="3594221"/>
          </a:xfrm>
          <a:prstGeom prst="line">
            <a:avLst/>
          </a:prstGeom>
          <a:ln w="12700">
            <a:solidFill>
              <a:srgbClr val="EE383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C68FB4E-CF34-2920-7D1B-7D74A5584A0F}"/>
              </a:ext>
            </a:extLst>
          </p:cNvPr>
          <p:cNvCxnSpPr>
            <a:cxnSpLocks/>
          </p:cNvCxnSpPr>
          <p:nvPr/>
        </p:nvCxnSpPr>
        <p:spPr>
          <a:xfrm flipV="1">
            <a:off x="3420740" y="4012724"/>
            <a:ext cx="497912" cy="4366313"/>
          </a:xfrm>
          <a:prstGeom prst="line">
            <a:avLst/>
          </a:prstGeom>
          <a:ln w="12700">
            <a:solidFill>
              <a:srgbClr val="3131CC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9ED8AD27-68E9-7118-D6E7-4BB0779E3B14}"/>
              </a:ext>
            </a:extLst>
          </p:cNvPr>
          <p:cNvCxnSpPr>
            <a:cxnSpLocks/>
          </p:cNvCxnSpPr>
          <p:nvPr/>
        </p:nvCxnSpPr>
        <p:spPr>
          <a:xfrm flipV="1">
            <a:off x="2972599" y="4989668"/>
            <a:ext cx="1856090" cy="3273799"/>
          </a:xfrm>
          <a:prstGeom prst="line">
            <a:avLst/>
          </a:prstGeom>
          <a:ln w="12700">
            <a:solidFill>
              <a:srgbClr val="03032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72BCD5D8-C990-1C44-9B62-350E74293765}"/>
              </a:ext>
            </a:extLst>
          </p:cNvPr>
          <p:cNvSpPr txBox="1"/>
          <p:nvPr/>
        </p:nvSpPr>
        <p:spPr>
          <a:xfrm>
            <a:off x="3757455" y="1207519"/>
            <a:ext cx="2311808" cy="523220"/>
          </a:xfrm>
          <a:prstGeom prst="rect">
            <a:avLst/>
          </a:prstGeom>
          <a:solidFill>
            <a:schemeClr val="bg1">
              <a:alpha val="63922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Rabies re-emergence and persistence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6B2270E-8D01-2CEA-754D-8986E772D03E}"/>
              </a:ext>
            </a:extLst>
          </p:cNvPr>
          <p:cNvSpPr txBox="1"/>
          <p:nvPr/>
        </p:nvSpPr>
        <p:spPr>
          <a:xfrm>
            <a:off x="378445" y="1207519"/>
            <a:ext cx="3027671" cy="523220"/>
          </a:xfrm>
          <a:prstGeom prst="rect">
            <a:avLst/>
          </a:prstGeom>
          <a:solidFill>
            <a:srgbClr val="F2F2F2">
              <a:alpha val="58431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16 years of epidemiological silence in Arequipa City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9DFC2E-5F85-8E4F-461F-E0A41E564F33}"/>
              </a:ext>
            </a:extLst>
          </p:cNvPr>
          <p:cNvSpPr/>
          <p:nvPr/>
        </p:nvSpPr>
        <p:spPr>
          <a:xfrm>
            <a:off x="196946" y="1178877"/>
            <a:ext cx="6487427" cy="39397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6FCBDDF-4ABA-DA68-9C0B-B8CF7018EA71}"/>
              </a:ext>
            </a:extLst>
          </p:cNvPr>
          <p:cNvSpPr/>
          <p:nvPr/>
        </p:nvSpPr>
        <p:spPr>
          <a:xfrm>
            <a:off x="196144" y="5183337"/>
            <a:ext cx="6487427" cy="49502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094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EE158-B63C-D586-C35A-8DAD7FE45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E6BD31D-8F87-05B2-22D3-C90C52596FBF}"/>
              </a:ext>
            </a:extLst>
          </p:cNvPr>
          <p:cNvSpPr/>
          <p:nvPr/>
        </p:nvSpPr>
        <p:spPr>
          <a:xfrm>
            <a:off x="198120" y="1178878"/>
            <a:ext cx="3401506" cy="3939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C2029E-0A9C-DFA2-82DD-B037D6C64F13}"/>
              </a:ext>
            </a:extLst>
          </p:cNvPr>
          <p:cNvCxnSpPr/>
          <p:nvPr/>
        </p:nvCxnSpPr>
        <p:spPr>
          <a:xfrm>
            <a:off x="2978719" y="3495932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AF73AB-9538-E884-57B1-A33370526934}"/>
              </a:ext>
            </a:extLst>
          </p:cNvPr>
          <p:cNvCxnSpPr/>
          <p:nvPr/>
        </p:nvCxnSpPr>
        <p:spPr>
          <a:xfrm>
            <a:off x="4237552" y="3495932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924312-B124-B68C-B0E2-21B8C5A669B6}"/>
              </a:ext>
            </a:extLst>
          </p:cNvPr>
          <p:cNvCxnSpPr>
            <a:cxnSpLocks/>
          </p:cNvCxnSpPr>
          <p:nvPr/>
        </p:nvCxnSpPr>
        <p:spPr>
          <a:xfrm flipV="1">
            <a:off x="5504792" y="3495931"/>
            <a:ext cx="1144486" cy="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90CAB2-774F-B5A4-C4BD-229DC227AD28}"/>
              </a:ext>
            </a:extLst>
          </p:cNvPr>
          <p:cNvCxnSpPr/>
          <p:nvPr/>
        </p:nvCxnSpPr>
        <p:spPr>
          <a:xfrm>
            <a:off x="1705360" y="3495932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03364F-FC13-B6E2-5E1C-039C6667E1E9}"/>
              </a:ext>
            </a:extLst>
          </p:cNvPr>
          <p:cNvCxnSpPr>
            <a:cxnSpLocks/>
            <a:stCxn id="21" idx="6"/>
          </p:cNvCxnSpPr>
          <p:nvPr/>
        </p:nvCxnSpPr>
        <p:spPr>
          <a:xfrm>
            <a:off x="978712" y="3495932"/>
            <a:ext cx="1418046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9591EEB-D612-4B74-1E2D-AF297AF6090F}"/>
              </a:ext>
            </a:extLst>
          </p:cNvPr>
          <p:cNvCxnSpPr>
            <a:cxnSpLocks/>
          </p:cNvCxnSpPr>
          <p:nvPr/>
        </p:nvCxnSpPr>
        <p:spPr>
          <a:xfrm>
            <a:off x="196946" y="3495932"/>
            <a:ext cx="546163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>
            <a:extLst>
              <a:ext uri="{FF2B5EF4-FFF2-40B4-BE49-F238E27FC236}">
                <a16:creationId xmlns:a16="http://schemas.microsoft.com/office/drawing/2014/main" id="{FA6F2B7B-1148-A2FB-316C-FA1C9C3485AC}"/>
              </a:ext>
            </a:extLst>
          </p:cNvPr>
          <p:cNvSpPr/>
          <p:nvPr/>
        </p:nvSpPr>
        <p:spPr>
          <a:xfrm>
            <a:off x="524905" y="3237417"/>
            <a:ext cx="517029" cy="517029"/>
          </a:xfrm>
          <a:prstGeom prst="arc">
            <a:avLst>
              <a:gd name="adj1" fmla="val 5420354"/>
              <a:gd name="adj2" fmla="val 10853341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CBC395-3CAC-1E54-C120-F503372E1C7C}"/>
              </a:ext>
            </a:extLst>
          </p:cNvPr>
          <p:cNvGrpSpPr/>
          <p:nvPr/>
        </p:nvGrpSpPr>
        <p:grpSpPr>
          <a:xfrm>
            <a:off x="588128" y="3300640"/>
            <a:ext cx="390583" cy="1027612"/>
            <a:chOff x="695435" y="3648134"/>
            <a:chExt cx="694370" cy="182686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7A15246-6F71-6E65-47FB-B50179727157}"/>
                </a:ext>
              </a:extLst>
            </p:cNvPr>
            <p:cNvSpPr/>
            <p:nvPr/>
          </p:nvSpPr>
          <p:spPr>
            <a:xfrm>
              <a:off x="947370" y="3900069"/>
              <a:ext cx="190500" cy="190500"/>
            </a:xfrm>
            <a:prstGeom prst="ellipse">
              <a:avLst/>
            </a:prstGeom>
            <a:solidFill>
              <a:srgbClr val="4F9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0" name="Circle: Hollow 8">
              <a:extLst>
                <a:ext uri="{FF2B5EF4-FFF2-40B4-BE49-F238E27FC236}">
                  <a16:creationId xmlns:a16="http://schemas.microsoft.com/office/drawing/2014/main" id="{91B4998D-FB80-A642-8182-F5DF05FCD001}"/>
                </a:ext>
              </a:extLst>
            </p:cNvPr>
            <p:cNvSpPr/>
            <p:nvPr/>
          </p:nvSpPr>
          <p:spPr>
            <a:xfrm>
              <a:off x="828307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4F9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21" name="Circle: Hollow 9">
              <a:extLst>
                <a:ext uri="{FF2B5EF4-FFF2-40B4-BE49-F238E27FC236}">
                  <a16:creationId xmlns:a16="http://schemas.microsoft.com/office/drawing/2014/main" id="{C582247C-5905-DB61-CDF9-CBD85C6F3C70}"/>
                </a:ext>
              </a:extLst>
            </p:cNvPr>
            <p:cNvSpPr/>
            <p:nvPr/>
          </p:nvSpPr>
          <p:spPr>
            <a:xfrm>
              <a:off x="695435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A53D1A5-FB62-3F96-44EB-8693EBACA8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621" y="4342505"/>
              <a:ext cx="0" cy="1033387"/>
            </a:xfrm>
            <a:prstGeom prst="line">
              <a:avLst/>
            </a:prstGeom>
            <a:ln w="19050">
              <a:solidFill>
                <a:srgbClr val="4F9EE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15AEA96-24E4-7EAF-84E1-6907C04C7EFC}"/>
                </a:ext>
              </a:extLst>
            </p:cNvPr>
            <p:cNvSpPr/>
            <p:nvPr/>
          </p:nvSpPr>
          <p:spPr>
            <a:xfrm>
              <a:off x="980500" y="5350759"/>
              <a:ext cx="124240" cy="124240"/>
            </a:xfrm>
            <a:prstGeom prst="ellipse">
              <a:avLst/>
            </a:prstGeom>
            <a:solidFill>
              <a:srgbClr val="4F9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E112D019-BFE8-9443-FC0D-2F145B2AB39A}"/>
              </a:ext>
            </a:extLst>
          </p:cNvPr>
          <p:cNvSpPr txBox="1"/>
          <p:nvPr/>
        </p:nvSpPr>
        <p:spPr>
          <a:xfrm>
            <a:off x="357217" y="2914594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4F9EEC"/>
                </a:solidFill>
                <a:latin typeface="+mj-lt"/>
              </a:rPr>
              <a:t>2009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30E4713-2395-87A4-3F82-8E2F8C48E806}"/>
              </a:ext>
            </a:extLst>
          </p:cNvPr>
          <p:cNvGrpSpPr/>
          <p:nvPr/>
        </p:nvGrpSpPr>
        <p:grpSpPr>
          <a:xfrm>
            <a:off x="1520174" y="2693285"/>
            <a:ext cx="517029" cy="1061161"/>
            <a:chOff x="2301254" y="2568391"/>
            <a:chExt cx="919162" cy="1886509"/>
          </a:xfrm>
        </p:grpSpPr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74DCE404-5A6C-1309-6ADA-D3BAA634DF45}"/>
                </a:ext>
              </a:extLst>
            </p:cNvPr>
            <p:cNvSpPr/>
            <p:nvPr/>
          </p:nvSpPr>
          <p:spPr>
            <a:xfrm rot="5400000">
              <a:off x="2301254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8D00E97-1464-2530-9EF5-A80B0A8D7649}"/>
                </a:ext>
              </a:extLst>
            </p:cNvPr>
            <p:cNvSpPr/>
            <p:nvPr/>
          </p:nvSpPr>
          <p:spPr>
            <a:xfrm>
              <a:off x="2665585" y="3900069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8" name="Circle: Hollow 20">
              <a:extLst>
                <a:ext uri="{FF2B5EF4-FFF2-40B4-BE49-F238E27FC236}">
                  <a16:creationId xmlns:a16="http://schemas.microsoft.com/office/drawing/2014/main" id="{CE652F04-07A1-6A7A-C984-49524E92446D}"/>
                </a:ext>
              </a:extLst>
            </p:cNvPr>
            <p:cNvSpPr/>
            <p:nvPr/>
          </p:nvSpPr>
          <p:spPr>
            <a:xfrm>
              <a:off x="2546522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29" name="Circle: Hollow 21">
              <a:extLst>
                <a:ext uri="{FF2B5EF4-FFF2-40B4-BE49-F238E27FC236}">
                  <a16:creationId xmlns:a16="http://schemas.microsoft.com/office/drawing/2014/main" id="{2D69E3CD-8DFB-C25B-6BA5-FA07E896AD6D}"/>
                </a:ext>
              </a:extLst>
            </p:cNvPr>
            <p:cNvSpPr/>
            <p:nvPr/>
          </p:nvSpPr>
          <p:spPr>
            <a:xfrm>
              <a:off x="2413650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2B73228-A7E7-695D-93B4-30F2C7ECC8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0836" y="2614747"/>
              <a:ext cx="0" cy="1033387"/>
            </a:xfrm>
            <a:prstGeom prst="line">
              <a:avLst/>
            </a:prstGeom>
            <a:ln w="19050">
              <a:solidFill>
                <a:srgbClr val="EE95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227F5AA-AABC-B58E-7B55-1FD353E5CBBF}"/>
                </a:ext>
              </a:extLst>
            </p:cNvPr>
            <p:cNvSpPr/>
            <p:nvPr/>
          </p:nvSpPr>
          <p:spPr>
            <a:xfrm>
              <a:off x="2698715" y="2568391"/>
              <a:ext cx="124240" cy="12424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F809D4E-CAE0-4BD7-CB93-552CE7C031D8}"/>
              </a:ext>
            </a:extLst>
          </p:cNvPr>
          <p:cNvSpPr txBox="1"/>
          <p:nvPr/>
        </p:nvSpPr>
        <p:spPr>
          <a:xfrm>
            <a:off x="1323713" y="3710917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EE9524"/>
                </a:solidFill>
                <a:latin typeface="+mj-lt"/>
              </a:rPr>
              <a:t>2013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988C3D-F40E-F969-F9FC-A14FF53E57F5}"/>
              </a:ext>
            </a:extLst>
          </p:cNvPr>
          <p:cNvSpPr txBox="1"/>
          <p:nvPr/>
        </p:nvSpPr>
        <p:spPr>
          <a:xfrm>
            <a:off x="1232678" y="1924497"/>
            <a:ext cx="1315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REDIPRA declares Arequipa rabies-free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4A8A752-D9ED-FEC6-D5FB-E93D95CF4E22}"/>
              </a:ext>
            </a:extLst>
          </p:cNvPr>
          <p:cNvGrpSpPr/>
          <p:nvPr/>
        </p:nvGrpSpPr>
        <p:grpSpPr>
          <a:xfrm>
            <a:off x="2578666" y="3237418"/>
            <a:ext cx="517029" cy="1090834"/>
            <a:chOff x="3671809" y="3535738"/>
            <a:chExt cx="919162" cy="1939261"/>
          </a:xfrm>
        </p:grpSpPr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9A757FE6-89EA-50C0-7EB1-70C0582B030E}"/>
                </a:ext>
              </a:extLst>
            </p:cNvPr>
            <p:cNvSpPr/>
            <p:nvPr/>
          </p:nvSpPr>
          <p:spPr>
            <a:xfrm>
              <a:off x="3671809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841A58B-3FFE-1979-A2F7-4BE4A69F4698}"/>
                </a:ext>
              </a:extLst>
            </p:cNvPr>
            <p:cNvSpPr/>
            <p:nvPr/>
          </p:nvSpPr>
          <p:spPr>
            <a:xfrm>
              <a:off x="4036140" y="3900069"/>
              <a:ext cx="190500" cy="190500"/>
            </a:xfrm>
            <a:prstGeom prst="ellipse">
              <a:avLst/>
            </a:prstGeom>
            <a:solidFill>
              <a:srgbClr val="EE38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7" name="Circle: Hollow 29">
              <a:extLst>
                <a:ext uri="{FF2B5EF4-FFF2-40B4-BE49-F238E27FC236}">
                  <a16:creationId xmlns:a16="http://schemas.microsoft.com/office/drawing/2014/main" id="{427C7763-A7B4-1219-87D5-481E2D0AB808}"/>
                </a:ext>
              </a:extLst>
            </p:cNvPr>
            <p:cNvSpPr/>
            <p:nvPr/>
          </p:nvSpPr>
          <p:spPr>
            <a:xfrm>
              <a:off x="3917077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EE38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38" name="Circle: Hollow 30">
              <a:extLst>
                <a:ext uri="{FF2B5EF4-FFF2-40B4-BE49-F238E27FC236}">
                  <a16:creationId xmlns:a16="http://schemas.microsoft.com/office/drawing/2014/main" id="{34CF724B-A9AD-B0E1-CC11-5D473E1E5152}"/>
                </a:ext>
              </a:extLst>
            </p:cNvPr>
            <p:cNvSpPr/>
            <p:nvPr/>
          </p:nvSpPr>
          <p:spPr>
            <a:xfrm>
              <a:off x="3784205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A621211-B2AA-7BC0-EE1F-CD2EE16412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1391" y="4342505"/>
              <a:ext cx="0" cy="1033387"/>
            </a:xfrm>
            <a:prstGeom prst="line">
              <a:avLst/>
            </a:prstGeom>
            <a:ln w="19050">
              <a:solidFill>
                <a:srgbClr val="EE38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E8E3B7F-A0B2-015F-4002-1D29E7A457DF}"/>
                </a:ext>
              </a:extLst>
            </p:cNvPr>
            <p:cNvSpPr/>
            <p:nvPr/>
          </p:nvSpPr>
          <p:spPr>
            <a:xfrm>
              <a:off x="4069270" y="5350759"/>
              <a:ext cx="124240" cy="124240"/>
            </a:xfrm>
            <a:prstGeom prst="ellipse">
              <a:avLst/>
            </a:prstGeom>
            <a:solidFill>
              <a:srgbClr val="EE38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F434D3BF-5DD8-B4C4-E0A9-27B8138BBC5D}"/>
              </a:ext>
            </a:extLst>
          </p:cNvPr>
          <p:cNvSpPr txBox="1"/>
          <p:nvPr/>
        </p:nvSpPr>
        <p:spPr>
          <a:xfrm>
            <a:off x="2404302" y="2914594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EE3837"/>
                </a:solidFill>
                <a:latin typeface="+mj-lt"/>
              </a:rPr>
              <a:t>2014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5ADDAE-5F58-29BC-1502-0B89B6455053}"/>
              </a:ext>
            </a:extLst>
          </p:cNvPr>
          <p:cNvSpPr txBox="1"/>
          <p:nvPr/>
        </p:nvSpPr>
        <p:spPr>
          <a:xfrm>
            <a:off x="2059057" y="4300852"/>
            <a:ext cx="1287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Two canine rabies cases in Camina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F678470-57C6-1926-77A6-3F6AD9DE2F3C}"/>
              </a:ext>
            </a:extLst>
          </p:cNvPr>
          <p:cNvGrpSpPr/>
          <p:nvPr/>
        </p:nvGrpSpPr>
        <p:grpSpPr>
          <a:xfrm>
            <a:off x="3637158" y="2693285"/>
            <a:ext cx="517029" cy="1061161"/>
            <a:chOff x="5494125" y="2568391"/>
            <a:chExt cx="919162" cy="1886509"/>
          </a:xfrm>
        </p:grpSpPr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B60DF53B-7F04-BE1A-BB10-3890FE79C6DE}"/>
                </a:ext>
              </a:extLst>
            </p:cNvPr>
            <p:cNvSpPr/>
            <p:nvPr/>
          </p:nvSpPr>
          <p:spPr>
            <a:xfrm rot="5400000">
              <a:off x="5494125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9126A27-1014-3BAC-456D-0D9FB5AF845E}"/>
                </a:ext>
              </a:extLst>
            </p:cNvPr>
            <p:cNvSpPr/>
            <p:nvPr/>
          </p:nvSpPr>
          <p:spPr>
            <a:xfrm>
              <a:off x="5858456" y="3900069"/>
              <a:ext cx="190500" cy="190500"/>
            </a:xfrm>
            <a:prstGeom prst="ellipse">
              <a:avLst/>
            </a:prstGeom>
            <a:solidFill>
              <a:srgbClr val="3131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46" name="Circle: Hollow 46">
              <a:extLst>
                <a:ext uri="{FF2B5EF4-FFF2-40B4-BE49-F238E27FC236}">
                  <a16:creationId xmlns:a16="http://schemas.microsoft.com/office/drawing/2014/main" id="{030F21A1-AE2C-EE65-CC17-7189783A183D}"/>
                </a:ext>
              </a:extLst>
            </p:cNvPr>
            <p:cNvSpPr/>
            <p:nvPr/>
          </p:nvSpPr>
          <p:spPr>
            <a:xfrm>
              <a:off x="5739393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3131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47" name="Circle: Hollow 47">
              <a:extLst>
                <a:ext uri="{FF2B5EF4-FFF2-40B4-BE49-F238E27FC236}">
                  <a16:creationId xmlns:a16="http://schemas.microsoft.com/office/drawing/2014/main" id="{E04C1D62-2093-76E9-E03E-5502902B6F21}"/>
                </a:ext>
              </a:extLst>
            </p:cNvPr>
            <p:cNvSpPr/>
            <p:nvPr/>
          </p:nvSpPr>
          <p:spPr>
            <a:xfrm>
              <a:off x="5606521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9EDABAC-FE1E-6639-B89C-1461B5EB0B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3707" y="2614747"/>
              <a:ext cx="0" cy="1033387"/>
            </a:xfrm>
            <a:prstGeom prst="line">
              <a:avLst/>
            </a:prstGeom>
            <a:ln w="19050">
              <a:solidFill>
                <a:srgbClr val="3131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A751DA7-F2FF-CB32-6C31-6E00C5770BA3}"/>
                </a:ext>
              </a:extLst>
            </p:cNvPr>
            <p:cNvSpPr/>
            <p:nvPr/>
          </p:nvSpPr>
          <p:spPr>
            <a:xfrm>
              <a:off x="5891586" y="2568391"/>
              <a:ext cx="124240" cy="124240"/>
            </a:xfrm>
            <a:prstGeom prst="ellipse">
              <a:avLst/>
            </a:prstGeom>
            <a:solidFill>
              <a:srgbClr val="3131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4C6F0740-3AB9-1EC9-47A3-FA38689DD787}"/>
              </a:ext>
            </a:extLst>
          </p:cNvPr>
          <p:cNvSpPr txBox="1"/>
          <p:nvPr/>
        </p:nvSpPr>
        <p:spPr>
          <a:xfrm>
            <a:off x="3498243" y="3710917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3131CC"/>
                </a:solidFill>
                <a:latin typeface="+mj-lt"/>
              </a:rPr>
              <a:t>2015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FC6AE39-1A9D-82A0-9578-B569F060160E}"/>
              </a:ext>
            </a:extLst>
          </p:cNvPr>
          <p:cNvSpPr txBox="1"/>
          <p:nvPr/>
        </p:nvSpPr>
        <p:spPr>
          <a:xfrm>
            <a:off x="3561449" y="1924497"/>
            <a:ext cx="1267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Rabies re-emerges in Arequipa city 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E11C069-8013-D35D-91F7-A9588F7C82CD}"/>
              </a:ext>
            </a:extLst>
          </p:cNvPr>
          <p:cNvGrpSpPr/>
          <p:nvPr/>
        </p:nvGrpSpPr>
        <p:grpSpPr>
          <a:xfrm>
            <a:off x="4695650" y="3237418"/>
            <a:ext cx="517029" cy="1090834"/>
            <a:chOff x="7716291" y="3535738"/>
            <a:chExt cx="919162" cy="1939261"/>
          </a:xfrm>
        </p:grpSpPr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A28FF092-7631-498A-ABC5-DB3CF4AF1B5B}"/>
                </a:ext>
              </a:extLst>
            </p:cNvPr>
            <p:cNvSpPr/>
            <p:nvPr/>
          </p:nvSpPr>
          <p:spPr>
            <a:xfrm>
              <a:off x="7716291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2104B0A-1DF2-869E-AFA2-ECDBF6B70B41}"/>
                </a:ext>
              </a:extLst>
            </p:cNvPr>
            <p:cNvSpPr/>
            <p:nvPr/>
          </p:nvSpPr>
          <p:spPr>
            <a:xfrm>
              <a:off x="8080622" y="3900069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55" name="Circle: Hollow 55">
              <a:extLst>
                <a:ext uri="{FF2B5EF4-FFF2-40B4-BE49-F238E27FC236}">
                  <a16:creationId xmlns:a16="http://schemas.microsoft.com/office/drawing/2014/main" id="{34173E2C-EE2F-6714-CC0F-43C09A14E8EE}"/>
                </a:ext>
              </a:extLst>
            </p:cNvPr>
            <p:cNvSpPr/>
            <p:nvPr/>
          </p:nvSpPr>
          <p:spPr>
            <a:xfrm>
              <a:off x="7961559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56" name="Circle: Hollow 56">
              <a:extLst>
                <a:ext uri="{FF2B5EF4-FFF2-40B4-BE49-F238E27FC236}">
                  <a16:creationId xmlns:a16="http://schemas.microsoft.com/office/drawing/2014/main" id="{C511AB6C-2E5F-619B-F1B6-5DC2B2E9F858}"/>
                </a:ext>
              </a:extLst>
            </p:cNvPr>
            <p:cNvSpPr/>
            <p:nvPr/>
          </p:nvSpPr>
          <p:spPr>
            <a:xfrm>
              <a:off x="7828687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367AC73-B0F3-B633-5FD0-9C2A849421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5873" y="4342505"/>
              <a:ext cx="0" cy="103338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E735647-69EA-3C76-22C0-9FE12170ABD9}"/>
                </a:ext>
              </a:extLst>
            </p:cNvPr>
            <p:cNvSpPr/>
            <p:nvPr/>
          </p:nvSpPr>
          <p:spPr>
            <a:xfrm>
              <a:off x="8113752" y="5350759"/>
              <a:ext cx="124240" cy="12424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AC5B4B5C-035C-452A-30CD-F3438EEDDD06}"/>
              </a:ext>
            </a:extLst>
          </p:cNvPr>
          <p:cNvSpPr txBox="1"/>
          <p:nvPr/>
        </p:nvSpPr>
        <p:spPr>
          <a:xfrm>
            <a:off x="4486434" y="2914594"/>
            <a:ext cx="1170062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2021/22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71D825-112B-A295-82D0-BE3B30CF5663}"/>
              </a:ext>
            </a:extLst>
          </p:cNvPr>
          <p:cNvSpPr txBox="1"/>
          <p:nvPr/>
        </p:nvSpPr>
        <p:spPr>
          <a:xfrm>
            <a:off x="4315109" y="4300852"/>
            <a:ext cx="1062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Rabies outbreaks in El Pedregal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3651B3C-0D60-43D3-AA82-A69EDC48E889}"/>
              </a:ext>
            </a:extLst>
          </p:cNvPr>
          <p:cNvCxnSpPr>
            <a:cxnSpLocks/>
          </p:cNvCxnSpPr>
          <p:nvPr/>
        </p:nvCxnSpPr>
        <p:spPr>
          <a:xfrm flipV="1">
            <a:off x="327760" y="4938850"/>
            <a:ext cx="995954" cy="2958"/>
          </a:xfrm>
          <a:prstGeom prst="line">
            <a:avLst/>
          </a:prstGeom>
          <a:ln w="19050">
            <a:solidFill>
              <a:srgbClr val="4F9E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2C1D228-DE8D-93E8-03DE-8F102C5C643D}"/>
              </a:ext>
            </a:extLst>
          </p:cNvPr>
          <p:cNvCxnSpPr>
            <a:cxnSpLocks/>
          </p:cNvCxnSpPr>
          <p:nvPr/>
        </p:nvCxnSpPr>
        <p:spPr>
          <a:xfrm>
            <a:off x="2110687" y="4941808"/>
            <a:ext cx="997839" cy="0"/>
          </a:xfrm>
          <a:prstGeom prst="line">
            <a:avLst/>
          </a:prstGeom>
          <a:ln w="19050">
            <a:solidFill>
              <a:srgbClr val="EE38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35CD596-F5ED-0587-810B-19B2DD13375E}"/>
              </a:ext>
            </a:extLst>
          </p:cNvPr>
          <p:cNvCxnSpPr>
            <a:cxnSpLocks/>
          </p:cNvCxnSpPr>
          <p:nvPr/>
        </p:nvCxnSpPr>
        <p:spPr>
          <a:xfrm>
            <a:off x="4343294" y="4941808"/>
            <a:ext cx="997839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55E185F-0E2F-D999-A152-6832B944C4A8}"/>
              </a:ext>
            </a:extLst>
          </p:cNvPr>
          <p:cNvCxnSpPr>
            <a:cxnSpLocks/>
          </p:cNvCxnSpPr>
          <p:nvPr/>
        </p:nvCxnSpPr>
        <p:spPr>
          <a:xfrm>
            <a:off x="1293117" y="1873424"/>
            <a:ext cx="997839" cy="0"/>
          </a:xfrm>
          <a:prstGeom prst="line">
            <a:avLst/>
          </a:prstGeom>
          <a:ln w="19050">
            <a:solidFill>
              <a:srgbClr val="EE95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CA94B92-328D-9D81-FE78-304802E31CC5}"/>
              </a:ext>
            </a:extLst>
          </p:cNvPr>
          <p:cNvCxnSpPr>
            <a:cxnSpLocks/>
          </p:cNvCxnSpPr>
          <p:nvPr/>
        </p:nvCxnSpPr>
        <p:spPr>
          <a:xfrm>
            <a:off x="3623506" y="1873424"/>
            <a:ext cx="997839" cy="0"/>
          </a:xfrm>
          <a:prstGeom prst="line">
            <a:avLst/>
          </a:prstGeom>
          <a:ln w="19050">
            <a:solidFill>
              <a:srgbClr val="3131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3D26536-5FD1-44CC-0591-2D1840A2F0BF}"/>
              </a:ext>
            </a:extLst>
          </p:cNvPr>
          <p:cNvSpPr txBox="1"/>
          <p:nvPr/>
        </p:nvSpPr>
        <p:spPr>
          <a:xfrm>
            <a:off x="276191" y="4256917"/>
            <a:ext cx="1264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Last detected case in Arequipa region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8B66B3D-EF26-DDD5-C340-A860903F04FA}"/>
              </a:ext>
            </a:extLst>
          </p:cNvPr>
          <p:cNvGrpSpPr/>
          <p:nvPr/>
        </p:nvGrpSpPr>
        <p:grpSpPr>
          <a:xfrm>
            <a:off x="5754142" y="2694527"/>
            <a:ext cx="517029" cy="1061161"/>
            <a:chOff x="5267125" y="6580729"/>
            <a:chExt cx="517029" cy="1061161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15BC31DB-0B1E-948F-53C3-0A85AB12DB62}"/>
                </a:ext>
              </a:extLst>
            </p:cNvPr>
            <p:cNvSpPr/>
            <p:nvPr/>
          </p:nvSpPr>
          <p:spPr>
            <a:xfrm>
              <a:off x="5475090" y="7329797"/>
              <a:ext cx="107156" cy="107156"/>
            </a:xfrm>
            <a:prstGeom prst="ellipse">
              <a:avLst/>
            </a:prstGeom>
            <a:solidFill>
              <a:srgbClr val="714A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79" name="Arc 78">
              <a:extLst>
                <a:ext uri="{FF2B5EF4-FFF2-40B4-BE49-F238E27FC236}">
                  <a16:creationId xmlns:a16="http://schemas.microsoft.com/office/drawing/2014/main" id="{6649421B-DBC7-9360-4E85-3D297294DF62}"/>
                </a:ext>
              </a:extLst>
            </p:cNvPr>
            <p:cNvSpPr/>
            <p:nvPr/>
          </p:nvSpPr>
          <p:spPr>
            <a:xfrm rot="5400000">
              <a:off x="5267126" y="7124861"/>
              <a:ext cx="517028" cy="517029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80" name="Circle: Hollow 46">
              <a:extLst>
                <a:ext uri="{FF2B5EF4-FFF2-40B4-BE49-F238E27FC236}">
                  <a16:creationId xmlns:a16="http://schemas.microsoft.com/office/drawing/2014/main" id="{5BD85AA3-A414-1084-8874-BED2AF53A924}"/>
                </a:ext>
              </a:extLst>
            </p:cNvPr>
            <p:cNvSpPr/>
            <p:nvPr/>
          </p:nvSpPr>
          <p:spPr>
            <a:xfrm>
              <a:off x="5405089" y="7262825"/>
              <a:ext cx="241102" cy="241102"/>
            </a:xfrm>
            <a:prstGeom prst="donut">
              <a:avLst>
                <a:gd name="adj" fmla="val 5281"/>
              </a:avLst>
            </a:prstGeom>
            <a:solidFill>
              <a:srgbClr val="714AAC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81" name="Circle: Hollow 47">
              <a:extLst>
                <a:ext uri="{FF2B5EF4-FFF2-40B4-BE49-F238E27FC236}">
                  <a16:creationId xmlns:a16="http://schemas.microsoft.com/office/drawing/2014/main" id="{05DFFEFE-2E20-4222-11C1-D692A187A271}"/>
                </a:ext>
              </a:extLst>
            </p:cNvPr>
            <p:cNvSpPr/>
            <p:nvPr/>
          </p:nvSpPr>
          <p:spPr>
            <a:xfrm>
              <a:off x="5330349" y="7188084"/>
              <a:ext cx="390583" cy="390583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256A8D1-992E-37A6-FB9A-2A8F9E4EB9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5641" y="6606804"/>
              <a:ext cx="0" cy="581280"/>
            </a:xfrm>
            <a:prstGeom prst="line">
              <a:avLst/>
            </a:prstGeom>
            <a:ln w="19050">
              <a:solidFill>
                <a:srgbClr val="714A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233D52C-95E8-9FDD-BF38-3FB061959C9C}"/>
                </a:ext>
              </a:extLst>
            </p:cNvPr>
            <p:cNvSpPr/>
            <p:nvPr/>
          </p:nvSpPr>
          <p:spPr>
            <a:xfrm>
              <a:off x="5490698" y="6580729"/>
              <a:ext cx="69885" cy="69885"/>
            </a:xfrm>
            <a:prstGeom prst="ellipse">
              <a:avLst/>
            </a:prstGeom>
            <a:solidFill>
              <a:srgbClr val="714AAC"/>
            </a:solidFill>
            <a:ln>
              <a:solidFill>
                <a:srgbClr val="6C3B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0D33CEFA-026F-AA13-B2CB-3948E39BEFD5}"/>
              </a:ext>
            </a:extLst>
          </p:cNvPr>
          <p:cNvSpPr txBox="1"/>
          <p:nvPr/>
        </p:nvSpPr>
        <p:spPr>
          <a:xfrm>
            <a:off x="5586454" y="3710917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714AAC"/>
                </a:solidFill>
                <a:latin typeface="+mj-lt"/>
              </a:rPr>
              <a:t>2025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9D1B1CD-C3B5-66C8-CC1F-89FB4A42B002}"/>
              </a:ext>
            </a:extLst>
          </p:cNvPr>
          <p:cNvSpPr txBox="1"/>
          <p:nvPr/>
        </p:nvSpPr>
        <p:spPr>
          <a:xfrm>
            <a:off x="5451953" y="1903605"/>
            <a:ext cx="1267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Rabies persistence in Arequipa City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00B27F1-753E-CFDF-AE67-0D463DC74842}"/>
              </a:ext>
            </a:extLst>
          </p:cNvPr>
          <p:cNvCxnSpPr>
            <a:cxnSpLocks/>
          </p:cNvCxnSpPr>
          <p:nvPr/>
        </p:nvCxnSpPr>
        <p:spPr>
          <a:xfrm>
            <a:off x="5514009" y="1852533"/>
            <a:ext cx="997839" cy="0"/>
          </a:xfrm>
          <a:prstGeom prst="line">
            <a:avLst/>
          </a:prstGeom>
          <a:ln w="19050">
            <a:solidFill>
              <a:srgbClr val="714A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401A78BA-A075-014B-BE5F-9686A3364F37}"/>
              </a:ext>
            </a:extLst>
          </p:cNvPr>
          <p:cNvSpPr txBox="1"/>
          <p:nvPr/>
        </p:nvSpPr>
        <p:spPr>
          <a:xfrm>
            <a:off x="3757455" y="1207519"/>
            <a:ext cx="2311808" cy="523220"/>
          </a:xfrm>
          <a:prstGeom prst="rect">
            <a:avLst/>
          </a:prstGeom>
          <a:solidFill>
            <a:schemeClr val="bg1">
              <a:alpha val="63922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Rabies re-emergence and persistence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52F4F9D-334D-DF6B-E8DF-76E7B0D24627}"/>
              </a:ext>
            </a:extLst>
          </p:cNvPr>
          <p:cNvSpPr txBox="1"/>
          <p:nvPr/>
        </p:nvSpPr>
        <p:spPr>
          <a:xfrm>
            <a:off x="378445" y="1207519"/>
            <a:ext cx="3027671" cy="523220"/>
          </a:xfrm>
          <a:prstGeom prst="rect">
            <a:avLst/>
          </a:prstGeom>
          <a:solidFill>
            <a:srgbClr val="F2F2F2">
              <a:alpha val="58431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16 years of epidemiological silence in Arequipa City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E32F5F-19B0-A9C6-DD8A-DCE67C338798}"/>
              </a:ext>
            </a:extLst>
          </p:cNvPr>
          <p:cNvSpPr/>
          <p:nvPr/>
        </p:nvSpPr>
        <p:spPr>
          <a:xfrm>
            <a:off x="196946" y="1178877"/>
            <a:ext cx="6487427" cy="39397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B094703-BACA-947C-5FDF-EEF699AA4333}"/>
              </a:ext>
            </a:extLst>
          </p:cNvPr>
          <p:cNvSpPr/>
          <p:nvPr/>
        </p:nvSpPr>
        <p:spPr>
          <a:xfrm>
            <a:off x="196144" y="5183338"/>
            <a:ext cx="6487427" cy="30686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36B03D-43A9-9409-6A41-042EDB6F8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36" y="5118644"/>
            <a:ext cx="3952015" cy="30686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2A09BB-28E0-239A-4488-DAD80A57FD1A}"/>
              </a:ext>
            </a:extLst>
          </p:cNvPr>
          <p:cNvSpPr txBox="1"/>
          <p:nvPr/>
        </p:nvSpPr>
        <p:spPr>
          <a:xfrm>
            <a:off x="4662705" y="5951416"/>
            <a:ext cx="1126066" cy="1532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&lt;AQP city: cases and seq cases?&gt;</a:t>
            </a:r>
          </a:p>
        </p:txBody>
      </p:sp>
    </p:spTree>
    <p:extLst>
      <p:ext uri="{BB962C8B-B14F-4D97-AF65-F5344CB8AC3E}">
        <p14:creationId xmlns:p14="http://schemas.microsoft.com/office/powerpoint/2010/main" val="54285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96">
            <a:extLst>
              <a:ext uri="{FF2B5EF4-FFF2-40B4-BE49-F238E27FC236}">
                <a16:creationId xmlns:a16="http://schemas.microsoft.com/office/drawing/2014/main" id="{AA94EDD9-CA40-EB81-2381-03B36BAA60DD}"/>
              </a:ext>
            </a:extLst>
          </p:cNvPr>
          <p:cNvSpPr/>
          <p:nvPr/>
        </p:nvSpPr>
        <p:spPr>
          <a:xfrm>
            <a:off x="1174" y="4167188"/>
            <a:ext cx="3401506" cy="38576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272CB9A-11DA-403F-8A2C-8ACABB9E55E3}"/>
              </a:ext>
            </a:extLst>
          </p:cNvPr>
          <p:cNvCxnSpPr/>
          <p:nvPr/>
        </p:nvCxnSpPr>
        <p:spPr>
          <a:xfrm>
            <a:off x="2781773" y="6264536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7E87360-F24A-47BA-928F-2F0179FA8620}"/>
              </a:ext>
            </a:extLst>
          </p:cNvPr>
          <p:cNvCxnSpPr/>
          <p:nvPr/>
        </p:nvCxnSpPr>
        <p:spPr>
          <a:xfrm>
            <a:off x="4040606" y="6264536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346D99-21A2-4F27-AB30-6BF25A60C3AC}"/>
              </a:ext>
            </a:extLst>
          </p:cNvPr>
          <p:cNvCxnSpPr>
            <a:cxnSpLocks/>
          </p:cNvCxnSpPr>
          <p:nvPr/>
        </p:nvCxnSpPr>
        <p:spPr>
          <a:xfrm>
            <a:off x="5307846" y="6264536"/>
            <a:ext cx="8654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92DD698-41EA-44B3-A338-53428D7D5050}"/>
              </a:ext>
            </a:extLst>
          </p:cNvPr>
          <p:cNvCxnSpPr/>
          <p:nvPr/>
        </p:nvCxnSpPr>
        <p:spPr>
          <a:xfrm>
            <a:off x="1508414" y="6264536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41C71E-E08E-4C35-AF33-12A46FFB4E28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781766" y="6264536"/>
            <a:ext cx="1418046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B54977-33F8-4105-824C-3D0C493D5B00}"/>
              </a:ext>
            </a:extLst>
          </p:cNvPr>
          <p:cNvCxnSpPr>
            <a:cxnSpLocks/>
          </p:cNvCxnSpPr>
          <p:nvPr/>
        </p:nvCxnSpPr>
        <p:spPr>
          <a:xfrm>
            <a:off x="0" y="6264536"/>
            <a:ext cx="546163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c 10">
            <a:extLst>
              <a:ext uri="{FF2B5EF4-FFF2-40B4-BE49-F238E27FC236}">
                <a16:creationId xmlns:a16="http://schemas.microsoft.com/office/drawing/2014/main" id="{AF54DAFC-72BF-4C18-B451-30110FC8EBCC}"/>
              </a:ext>
            </a:extLst>
          </p:cNvPr>
          <p:cNvSpPr/>
          <p:nvPr/>
        </p:nvSpPr>
        <p:spPr>
          <a:xfrm>
            <a:off x="327959" y="6006021"/>
            <a:ext cx="517029" cy="517029"/>
          </a:xfrm>
          <a:prstGeom prst="arc">
            <a:avLst>
              <a:gd name="adj1" fmla="val 5420354"/>
              <a:gd name="adj2" fmla="val 10853341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48C36FE-124B-310E-8080-D88B64D22237}"/>
              </a:ext>
            </a:extLst>
          </p:cNvPr>
          <p:cNvGrpSpPr/>
          <p:nvPr/>
        </p:nvGrpSpPr>
        <p:grpSpPr>
          <a:xfrm>
            <a:off x="391182" y="6069244"/>
            <a:ext cx="390583" cy="1027612"/>
            <a:chOff x="695435" y="3648134"/>
            <a:chExt cx="694370" cy="182686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ADB8234-7655-4312-99D5-ACC91B4B894B}"/>
                </a:ext>
              </a:extLst>
            </p:cNvPr>
            <p:cNvSpPr/>
            <p:nvPr/>
          </p:nvSpPr>
          <p:spPr>
            <a:xfrm>
              <a:off x="947370" y="3900069"/>
              <a:ext cx="190500" cy="19050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9" name="Circle: Hollow 8">
              <a:extLst>
                <a:ext uri="{FF2B5EF4-FFF2-40B4-BE49-F238E27FC236}">
                  <a16:creationId xmlns:a16="http://schemas.microsoft.com/office/drawing/2014/main" id="{868629C6-9D56-44C4-A90C-D16F2E7AA94B}"/>
                </a:ext>
              </a:extLst>
            </p:cNvPr>
            <p:cNvSpPr/>
            <p:nvPr/>
          </p:nvSpPr>
          <p:spPr>
            <a:xfrm>
              <a:off x="828307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10" name="Circle: Hollow 9">
              <a:extLst>
                <a:ext uri="{FF2B5EF4-FFF2-40B4-BE49-F238E27FC236}">
                  <a16:creationId xmlns:a16="http://schemas.microsoft.com/office/drawing/2014/main" id="{1E0E5245-3E9D-45CB-A2A2-78E37536928E}"/>
                </a:ext>
              </a:extLst>
            </p:cNvPr>
            <p:cNvSpPr/>
            <p:nvPr/>
          </p:nvSpPr>
          <p:spPr>
            <a:xfrm>
              <a:off x="695435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B8353AA-1A28-4FAD-AF44-130B899BAA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621" y="4342505"/>
              <a:ext cx="0" cy="1033387"/>
            </a:xfrm>
            <a:prstGeom prst="line">
              <a:avLst/>
            </a:prstGeom>
            <a:ln w="19050">
              <a:solidFill>
                <a:srgbClr val="03A1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6B49B4F-63E8-4430-9059-553CBCA3AB43}"/>
                </a:ext>
              </a:extLst>
            </p:cNvPr>
            <p:cNvSpPr/>
            <p:nvPr/>
          </p:nvSpPr>
          <p:spPr>
            <a:xfrm>
              <a:off x="980500" y="5350759"/>
              <a:ext cx="124240" cy="12424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959B938-7387-4E6C-B81C-CA1B61488588}"/>
              </a:ext>
            </a:extLst>
          </p:cNvPr>
          <p:cNvSpPr txBox="1"/>
          <p:nvPr/>
        </p:nvSpPr>
        <p:spPr>
          <a:xfrm>
            <a:off x="160271" y="5683198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03A1A4"/>
                </a:solidFill>
                <a:latin typeface="Century Gothic" panose="020B0502020202020204" pitchFamily="34" charset="0"/>
              </a:rPr>
              <a:t>2009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12E3483-F798-E62F-6F17-D5CF4502E5E4}"/>
              </a:ext>
            </a:extLst>
          </p:cNvPr>
          <p:cNvGrpSpPr/>
          <p:nvPr/>
        </p:nvGrpSpPr>
        <p:grpSpPr>
          <a:xfrm>
            <a:off x="1225825" y="5461889"/>
            <a:ext cx="517029" cy="1061161"/>
            <a:chOff x="2301254" y="2568391"/>
            <a:chExt cx="919162" cy="1886509"/>
          </a:xfrm>
        </p:grpSpPr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B54B9C7B-4DA7-40E1-B723-68758EB971FE}"/>
                </a:ext>
              </a:extLst>
            </p:cNvPr>
            <p:cNvSpPr/>
            <p:nvPr/>
          </p:nvSpPr>
          <p:spPr>
            <a:xfrm rot="5400000">
              <a:off x="2301254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37A3CB3-AA60-41C6-B92B-B84EC0A87E61}"/>
                </a:ext>
              </a:extLst>
            </p:cNvPr>
            <p:cNvSpPr/>
            <p:nvPr/>
          </p:nvSpPr>
          <p:spPr>
            <a:xfrm>
              <a:off x="2665585" y="3900069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1" name="Circle: Hollow 20">
              <a:extLst>
                <a:ext uri="{FF2B5EF4-FFF2-40B4-BE49-F238E27FC236}">
                  <a16:creationId xmlns:a16="http://schemas.microsoft.com/office/drawing/2014/main" id="{5AB77009-91CD-4089-A339-205E1FD860BA}"/>
                </a:ext>
              </a:extLst>
            </p:cNvPr>
            <p:cNvSpPr/>
            <p:nvPr/>
          </p:nvSpPr>
          <p:spPr>
            <a:xfrm>
              <a:off x="2546522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22" name="Circle: Hollow 21">
              <a:extLst>
                <a:ext uri="{FF2B5EF4-FFF2-40B4-BE49-F238E27FC236}">
                  <a16:creationId xmlns:a16="http://schemas.microsoft.com/office/drawing/2014/main" id="{EB4F978A-6973-4038-9D44-C992F6903D28}"/>
                </a:ext>
              </a:extLst>
            </p:cNvPr>
            <p:cNvSpPr/>
            <p:nvPr/>
          </p:nvSpPr>
          <p:spPr>
            <a:xfrm>
              <a:off x="2413650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982AF7D-7FF0-494C-891D-C601C69FAD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0836" y="2614747"/>
              <a:ext cx="0" cy="1033387"/>
            </a:xfrm>
            <a:prstGeom prst="line">
              <a:avLst/>
            </a:prstGeom>
            <a:ln w="19050">
              <a:solidFill>
                <a:srgbClr val="EE95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26033AC-E99E-4309-BD9B-47A98BA0DEA7}"/>
                </a:ext>
              </a:extLst>
            </p:cNvPr>
            <p:cNvSpPr/>
            <p:nvPr/>
          </p:nvSpPr>
          <p:spPr>
            <a:xfrm>
              <a:off x="2698715" y="2568391"/>
              <a:ext cx="124240" cy="12424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297ECE7-7E0E-48D0-9C27-6FB0E3DB79DD}"/>
              </a:ext>
            </a:extLst>
          </p:cNvPr>
          <p:cNvSpPr txBox="1"/>
          <p:nvPr/>
        </p:nvSpPr>
        <p:spPr>
          <a:xfrm>
            <a:off x="1126767" y="6482388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EE9524"/>
                </a:solidFill>
                <a:latin typeface="Century Gothic" panose="020B0502020202020204" pitchFamily="34" charset="0"/>
              </a:rPr>
              <a:t>2013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EA27D8-0CF3-496D-AD7D-2076231DE52C}"/>
              </a:ext>
            </a:extLst>
          </p:cNvPr>
          <p:cNvSpPr txBox="1"/>
          <p:nvPr/>
        </p:nvSpPr>
        <p:spPr>
          <a:xfrm>
            <a:off x="1035732" y="5100605"/>
            <a:ext cx="131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REDIPRA declares Arequipa rabies-free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65650FC-7593-9A2F-E1BF-4948F947C19F}"/>
              </a:ext>
            </a:extLst>
          </p:cNvPr>
          <p:cNvGrpSpPr/>
          <p:nvPr/>
        </p:nvGrpSpPr>
        <p:grpSpPr>
          <a:xfrm>
            <a:off x="2186914" y="6006022"/>
            <a:ext cx="517029" cy="1090834"/>
            <a:chOff x="3671809" y="3535738"/>
            <a:chExt cx="919162" cy="1939261"/>
          </a:xfrm>
        </p:grpSpPr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A2636062-43D3-463C-B6BD-741D547DE965}"/>
                </a:ext>
              </a:extLst>
            </p:cNvPr>
            <p:cNvSpPr/>
            <p:nvPr/>
          </p:nvSpPr>
          <p:spPr>
            <a:xfrm>
              <a:off x="3671809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DCB9A2B-6699-4804-99AE-7A924FDA4340}"/>
                </a:ext>
              </a:extLst>
            </p:cNvPr>
            <p:cNvSpPr/>
            <p:nvPr/>
          </p:nvSpPr>
          <p:spPr>
            <a:xfrm>
              <a:off x="4036140" y="3900069"/>
              <a:ext cx="190500" cy="19050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0" name="Circle: Hollow 29">
              <a:extLst>
                <a:ext uri="{FF2B5EF4-FFF2-40B4-BE49-F238E27FC236}">
                  <a16:creationId xmlns:a16="http://schemas.microsoft.com/office/drawing/2014/main" id="{3A6CDF07-EF0B-4379-8FBF-3718BD896047}"/>
                </a:ext>
              </a:extLst>
            </p:cNvPr>
            <p:cNvSpPr/>
            <p:nvPr/>
          </p:nvSpPr>
          <p:spPr>
            <a:xfrm>
              <a:off x="3917077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31" name="Circle: Hollow 30">
              <a:extLst>
                <a:ext uri="{FF2B5EF4-FFF2-40B4-BE49-F238E27FC236}">
                  <a16:creationId xmlns:a16="http://schemas.microsoft.com/office/drawing/2014/main" id="{FB3E2DCF-4068-4715-BD27-13370B541EAC}"/>
                </a:ext>
              </a:extLst>
            </p:cNvPr>
            <p:cNvSpPr/>
            <p:nvPr/>
          </p:nvSpPr>
          <p:spPr>
            <a:xfrm>
              <a:off x="3784205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A49CDC4-E9AD-4789-BEA6-BFF07A7311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1391" y="4342505"/>
              <a:ext cx="0" cy="1033387"/>
            </a:xfrm>
            <a:prstGeom prst="line">
              <a:avLst/>
            </a:prstGeom>
            <a:ln w="19050">
              <a:solidFill>
                <a:srgbClr val="EF30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D4A8794-EADF-4527-95C6-C9D6781E9C8E}"/>
                </a:ext>
              </a:extLst>
            </p:cNvPr>
            <p:cNvSpPr/>
            <p:nvPr/>
          </p:nvSpPr>
          <p:spPr>
            <a:xfrm>
              <a:off x="4069270" y="5350759"/>
              <a:ext cx="124240" cy="124240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4BE7D141-E60D-4B00-AA4B-1F588212DCAD}"/>
              </a:ext>
            </a:extLst>
          </p:cNvPr>
          <p:cNvSpPr txBox="1"/>
          <p:nvPr/>
        </p:nvSpPr>
        <p:spPr>
          <a:xfrm>
            <a:off x="1897704" y="5683198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EF3078"/>
                </a:solidFill>
                <a:latin typeface="Century Gothic" panose="020B0502020202020204" pitchFamily="34" charset="0"/>
              </a:rPr>
              <a:t>2014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5C5A36-EC92-462F-BB70-6A797D63B1DD}"/>
              </a:ext>
            </a:extLst>
          </p:cNvPr>
          <p:cNvSpPr txBox="1"/>
          <p:nvPr/>
        </p:nvSpPr>
        <p:spPr>
          <a:xfrm>
            <a:off x="1862111" y="7168848"/>
            <a:ext cx="1287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Two canine rabies cases in Camina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71D5F4A-D2D1-0DC4-4B22-E3BC4BFE16FE}"/>
              </a:ext>
            </a:extLst>
          </p:cNvPr>
          <p:cNvGrpSpPr/>
          <p:nvPr/>
        </p:nvGrpSpPr>
        <p:grpSpPr>
          <a:xfrm>
            <a:off x="3148002" y="5461889"/>
            <a:ext cx="517029" cy="1061161"/>
            <a:chOff x="5494125" y="2568391"/>
            <a:chExt cx="919162" cy="1886509"/>
          </a:xfrm>
        </p:grpSpPr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E3730103-7F8D-4792-83EE-5FFC4A5D2274}"/>
                </a:ext>
              </a:extLst>
            </p:cNvPr>
            <p:cNvSpPr/>
            <p:nvPr/>
          </p:nvSpPr>
          <p:spPr>
            <a:xfrm rot="5400000">
              <a:off x="5494125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6694F26-80D5-467D-94C4-C9C860517F5F}"/>
                </a:ext>
              </a:extLst>
            </p:cNvPr>
            <p:cNvSpPr/>
            <p:nvPr/>
          </p:nvSpPr>
          <p:spPr>
            <a:xfrm>
              <a:off x="5858456" y="3900069"/>
              <a:ext cx="190500" cy="19050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47" name="Circle: Hollow 46">
              <a:extLst>
                <a:ext uri="{FF2B5EF4-FFF2-40B4-BE49-F238E27FC236}">
                  <a16:creationId xmlns:a16="http://schemas.microsoft.com/office/drawing/2014/main" id="{B0789B4A-0620-4211-9109-6DBE9A07FE51}"/>
                </a:ext>
              </a:extLst>
            </p:cNvPr>
            <p:cNvSpPr/>
            <p:nvPr/>
          </p:nvSpPr>
          <p:spPr>
            <a:xfrm>
              <a:off x="5739393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48" name="Circle: Hollow 47">
              <a:extLst>
                <a:ext uri="{FF2B5EF4-FFF2-40B4-BE49-F238E27FC236}">
                  <a16:creationId xmlns:a16="http://schemas.microsoft.com/office/drawing/2014/main" id="{9C63B36C-028C-4461-9179-02E81EA9B830}"/>
                </a:ext>
              </a:extLst>
            </p:cNvPr>
            <p:cNvSpPr/>
            <p:nvPr/>
          </p:nvSpPr>
          <p:spPr>
            <a:xfrm>
              <a:off x="5606521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5E6C7CE-0DCB-4A82-B08E-519AC3270B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3707" y="2614747"/>
              <a:ext cx="0" cy="1033387"/>
            </a:xfrm>
            <a:prstGeom prst="line">
              <a:avLst/>
            </a:prstGeom>
            <a:ln w="19050">
              <a:solidFill>
                <a:srgbClr val="1C7C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CFE38F3-7830-46D8-95EE-69DB62ED465D}"/>
                </a:ext>
              </a:extLst>
            </p:cNvPr>
            <p:cNvSpPr/>
            <p:nvPr/>
          </p:nvSpPr>
          <p:spPr>
            <a:xfrm>
              <a:off x="5891586" y="2568391"/>
              <a:ext cx="124240" cy="124240"/>
            </a:xfrm>
            <a:prstGeom prst="ellipse">
              <a:avLst/>
            </a:prstGeom>
            <a:solidFill>
              <a:srgbClr val="1C7C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65F62DC2-C651-4B22-B4CB-1846861868F6}"/>
              </a:ext>
            </a:extLst>
          </p:cNvPr>
          <p:cNvSpPr txBox="1"/>
          <p:nvPr/>
        </p:nvSpPr>
        <p:spPr>
          <a:xfrm>
            <a:off x="2922757" y="6482388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1C7CBB"/>
                </a:solidFill>
                <a:latin typeface="Century Gothic" panose="020B0502020202020204" pitchFamily="34" charset="0"/>
              </a:rPr>
              <a:t>2015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337E62-7F21-4CD3-9B0D-507A64DF7728}"/>
              </a:ext>
            </a:extLst>
          </p:cNvPr>
          <p:cNvSpPr txBox="1"/>
          <p:nvPr/>
        </p:nvSpPr>
        <p:spPr>
          <a:xfrm>
            <a:off x="2797973" y="5100605"/>
            <a:ext cx="126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Rabies re-emerges in Arequipa city 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0D4FDFE-9683-6F3E-D91A-C29B600D6C43}"/>
              </a:ext>
            </a:extLst>
          </p:cNvPr>
          <p:cNvGrpSpPr/>
          <p:nvPr/>
        </p:nvGrpSpPr>
        <p:grpSpPr>
          <a:xfrm>
            <a:off x="4109091" y="6006022"/>
            <a:ext cx="517029" cy="1090834"/>
            <a:chOff x="7716291" y="3535738"/>
            <a:chExt cx="919162" cy="1939261"/>
          </a:xfrm>
        </p:grpSpPr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FC85B459-7BA2-4C61-9178-E1CE5EFAEC56}"/>
                </a:ext>
              </a:extLst>
            </p:cNvPr>
            <p:cNvSpPr/>
            <p:nvPr/>
          </p:nvSpPr>
          <p:spPr>
            <a:xfrm>
              <a:off x="7716291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A6EEA54-5314-432F-B5DF-B223248AB8AA}"/>
                </a:ext>
              </a:extLst>
            </p:cNvPr>
            <p:cNvSpPr/>
            <p:nvPr/>
          </p:nvSpPr>
          <p:spPr>
            <a:xfrm>
              <a:off x="8080622" y="3900069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56" name="Circle: Hollow 55">
              <a:extLst>
                <a:ext uri="{FF2B5EF4-FFF2-40B4-BE49-F238E27FC236}">
                  <a16:creationId xmlns:a16="http://schemas.microsoft.com/office/drawing/2014/main" id="{0C983C23-7914-456E-AA37-90FEEBD851C0}"/>
                </a:ext>
              </a:extLst>
            </p:cNvPr>
            <p:cNvSpPr/>
            <p:nvPr/>
          </p:nvSpPr>
          <p:spPr>
            <a:xfrm>
              <a:off x="7961559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57" name="Circle: Hollow 56">
              <a:extLst>
                <a:ext uri="{FF2B5EF4-FFF2-40B4-BE49-F238E27FC236}">
                  <a16:creationId xmlns:a16="http://schemas.microsoft.com/office/drawing/2014/main" id="{CD810234-B3DF-4AE8-B7F5-9B91C3FEE8A3}"/>
                </a:ext>
              </a:extLst>
            </p:cNvPr>
            <p:cNvSpPr/>
            <p:nvPr/>
          </p:nvSpPr>
          <p:spPr>
            <a:xfrm>
              <a:off x="7828687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61A79A1-830D-43A5-991E-41089FE309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5873" y="4342505"/>
              <a:ext cx="0" cy="103338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1D217BA-6735-41FC-ADDE-ADA84BF5E891}"/>
                </a:ext>
              </a:extLst>
            </p:cNvPr>
            <p:cNvSpPr/>
            <p:nvPr/>
          </p:nvSpPr>
          <p:spPr>
            <a:xfrm>
              <a:off x="8113752" y="5350759"/>
              <a:ext cx="124240" cy="12424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493BBA26-6FB6-4EDA-AE7C-332D388F6619}"/>
              </a:ext>
            </a:extLst>
          </p:cNvPr>
          <p:cNvSpPr txBox="1"/>
          <p:nvPr/>
        </p:nvSpPr>
        <p:spPr>
          <a:xfrm>
            <a:off x="4172726" y="5683198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</a:rPr>
              <a:t>2021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10CEB2-4E11-44C6-A201-5DCB3EA9A265}"/>
              </a:ext>
            </a:extLst>
          </p:cNvPr>
          <p:cNvSpPr txBox="1"/>
          <p:nvPr/>
        </p:nvSpPr>
        <p:spPr>
          <a:xfrm>
            <a:off x="4118163" y="7168848"/>
            <a:ext cx="10622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  <a:r>
              <a:rPr lang="en-US" sz="900" baseline="30000" dirty="0"/>
              <a:t>st</a:t>
            </a:r>
            <a:r>
              <a:rPr lang="en-US" sz="900" dirty="0"/>
              <a:t> rabies outbreak in El Pedregal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CE23E97-80CA-4DCE-905B-0371552128FB}"/>
              </a:ext>
            </a:extLst>
          </p:cNvPr>
          <p:cNvCxnSpPr>
            <a:cxnSpLocks/>
          </p:cNvCxnSpPr>
          <p:nvPr/>
        </p:nvCxnSpPr>
        <p:spPr>
          <a:xfrm flipV="1">
            <a:off x="130814" y="7508672"/>
            <a:ext cx="995954" cy="2958"/>
          </a:xfrm>
          <a:prstGeom prst="line">
            <a:avLst/>
          </a:prstGeom>
          <a:ln w="19050">
            <a:solidFill>
              <a:srgbClr val="03A1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6AF9195-D1C7-4EAB-9766-CBBD5AC04E3E}"/>
              </a:ext>
            </a:extLst>
          </p:cNvPr>
          <p:cNvCxnSpPr>
            <a:cxnSpLocks/>
          </p:cNvCxnSpPr>
          <p:nvPr/>
        </p:nvCxnSpPr>
        <p:spPr>
          <a:xfrm>
            <a:off x="1913741" y="7511630"/>
            <a:ext cx="997839" cy="0"/>
          </a:xfrm>
          <a:prstGeom prst="line">
            <a:avLst/>
          </a:prstGeom>
          <a:ln w="19050">
            <a:solidFill>
              <a:srgbClr val="EF3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7FD0854-B613-4503-8F9F-7EBA21977DB6}"/>
              </a:ext>
            </a:extLst>
          </p:cNvPr>
          <p:cNvCxnSpPr>
            <a:cxnSpLocks/>
          </p:cNvCxnSpPr>
          <p:nvPr/>
        </p:nvCxnSpPr>
        <p:spPr>
          <a:xfrm>
            <a:off x="4146348" y="7511630"/>
            <a:ext cx="997839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67D5D77-7183-46A2-913A-91854EB46B5B}"/>
              </a:ext>
            </a:extLst>
          </p:cNvPr>
          <p:cNvCxnSpPr>
            <a:cxnSpLocks/>
          </p:cNvCxnSpPr>
          <p:nvPr/>
        </p:nvCxnSpPr>
        <p:spPr>
          <a:xfrm>
            <a:off x="1096171" y="5049532"/>
            <a:ext cx="997839" cy="0"/>
          </a:xfrm>
          <a:prstGeom prst="line">
            <a:avLst/>
          </a:prstGeom>
          <a:ln w="19050">
            <a:solidFill>
              <a:srgbClr val="EE95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FE4C8AC-856E-47A1-86C3-D3143F6DF56B}"/>
              </a:ext>
            </a:extLst>
          </p:cNvPr>
          <p:cNvCxnSpPr>
            <a:cxnSpLocks/>
          </p:cNvCxnSpPr>
          <p:nvPr/>
        </p:nvCxnSpPr>
        <p:spPr>
          <a:xfrm>
            <a:off x="2860030" y="5049532"/>
            <a:ext cx="997839" cy="0"/>
          </a:xfrm>
          <a:prstGeom prst="line">
            <a:avLst/>
          </a:prstGeom>
          <a:ln w="19050">
            <a:solidFill>
              <a:srgbClr val="1C7C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EBCBE84-574A-2BF4-AB4E-71EACFC8BDE6}"/>
              </a:ext>
            </a:extLst>
          </p:cNvPr>
          <p:cNvSpPr txBox="1"/>
          <p:nvPr/>
        </p:nvSpPr>
        <p:spPr>
          <a:xfrm>
            <a:off x="79245" y="7124913"/>
            <a:ext cx="1264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Last detected case in Arequipa region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DC150A-7400-6F62-F2A7-02249227E37D}"/>
              </a:ext>
            </a:extLst>
          </p:cNvPr>
          <p:cNvCxnSpPr>
            <a:cxnSpLocks/>
          </p:cNvCxnSpPr>
          <p:nvPr/>
        </p:nvCxnSpPr>
        <p:spPr>
          <a:xfrm>
            <a:off x="6324725" y="6261578"/>
            <a:ext cx="533275" cy="2958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D35B86C-10B0-A92E-5973-4DB2FAC69C41}"/>
              </a:ext>
            </a:extLst>
          </p:cNvPr>
          <p:cNvGrpSpPr/>
          <p:nvPr/>
        </p:nvGrpSpPr>
        <p:grpSpPr>
          <a:xfrm>
            <a:off x="6031268" y="6003064"/>
            <a:ext cx="517029" cy="1090834"/>
            <a:chOff x="10722255" y="3530479"/>
            <a:chExt cx="919162" cy="1939261"/>
          </a:xfrm>
        </p:grpSpPr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709C4630-E130-7C93-1BF0-9A2859CCABDF}"/>
                </a:ext>
              </a:extLst>
            </p:cNvPr>
            <p:cNvSpPr/>
            <p:nvPr/>
          </p:nvSpPr>
          <p:spPr>
            <a:xfrm>
              <a:off x="10722255" y="3530479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9EE1E4A-C8F2-4786-1CEA-74BA1B1A9E49}"/>
                </a:ext>
              </a:extLst>
            </p:cNvPr>
            <p:cNvSpPr/>
            <p:nvPr/>
          </p:nvSpPr>
          <p:spPr>
            <a:xfrm>
              <a:off x="11086586" y="3894810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7" name="Circle: Hollow 55">
              <a:extLst>
                <a:ext uri="{FF2B5EF4-FFF2-40B4-BE49-F238E27FC236}">
                  <a16:creationId xmlns:a16="http://schemas.microsoft.com/office/drawing/2014/main" id="{C25E1B2C-5A0D-19C0-709E-FB14CFFC0C30}"/>
                </a:ext>
              </a:extLst>
            </p:cNvPr>
            <p:cNvSpPr/>
            <p:nvPr/>
          </p:nvSpPr>
          <p:spPr>
            <a:xfrm>
              <a:off x="10967523" y="3775747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38" name="Circle: Hollow 56">
              <a:extLst>
                <a:ext uri="{FF2B5EF4-FFF2-40B4-BE49-F238E27FC236}">
                  <a16:creationId xmlns:a16="http://schemas.microsoft.com/office/drawing/2014/main" id="{B990F3DF-7263-DEAC-815E-B7E78EB9B098}"/>
                </a:ext>
              </a:extLst>
            </p:cNvPr>
            <p:cNvSpPr/>
            <p:nvPr/>
          </p:nvSpPr>
          <p:spPr>
            <a:xfrm>
              <a:off x="10834651" y="3642875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5BAA0AA-48EB-8E47-7133-A497C124D4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81837" y="4337246"/>
              <a:ext cx="0" cy="103338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AA4EE7B-77D5-A4AD-44CD-1E155D9E40F5}"/>
                </a:ext>
              </a:extLst>
            </p:cNvPr>
            <p:cNvSpPr/>
            <p:nvPr/>
          </p:nvSpPr>
          <p:spPr>
            <a:xfrm>
              <a:off x="11119716" y="5345500"/>
              <a:ext cx="124240" cy="12424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A3080A72-F8AC-D7B2-7A72-AECBD4C9940A}"/>
              </a:ext>
            </a:extLst>
          </p:cNvPr>
          <p:cNvSpPr txBox="1"/>
          <p:nvPr/>
        </p:nvSpPr>
        <p:spPr>
          <a:xfrm>
            <a:off x="5863580" y="5680240"/>
            <a:ext cx="852405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</a:rPr>
              <a:t>2025+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5240423-4ECA-E157-A49B-B298E7638D41}"/>
              </a:ext>
            </a:extLst>
          </p:cNvPr>
          <p:cNvCxnSpPr>
            <a:cxnSpLocks/>
          </p:cNvCxnSpPr>
          <p:nvPr/>
        </p:nvCxnSpPr>
        <p:spPr>
          <a:xfrm>
            <a:off x="5827596" y="7508672"/>
            <a:ext cx="997839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8C38E7CA-296D-4B24-F611-649A11992111}"/>
              </a:ext>
            </a:extLst>
          </p:cNvPr>
          <p:cNvSpPr/>
          <p:nvPr/>
        </p:nvSpPr>
        <p:spPr>
          <a:xfrm>
            <a:off x="5278144" y="6212199"/>
            <a:ext cx="107156" cy="107156"/>
          </a:xfrm>
          <a:prstGeom prst="ellipse">
            <a:avLst/>
          </a:prstGeom>
          <a:solidFill>
            <a:srgbClr val="6C3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ABA8C7A-ED4E-497C-A6EB-EDAB4056B413}"/>
              </a:ext>
            </a:extLst>
          </p:cNvPr>
          <p:cNvGrpSpPr/>
          <p:nvPr/>
        </p:nvGrpSpPr>
        <p:grpSpPr>
          <a:xfrm>
            <a:off x="5070180" y="5463131"/>
            <a:ext cx="517029" cy="1061161"/>
            <a:chOff x="9209536" y="2570598"/>
            <a:chExt cx="919162" cy="1886509"/>
          </a:xfrm>
        </p:grpSpPr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E9435589-80C4-8360-05C2-BEE49620CB2E}"/>
                </a:ext>
              </a:extLst>
            </p:cNvPr>
            <p:cNvSpPr/>
            <p:nvPr/>
          </p:nvSpPr>
          <p:spPr>
            <a:xfrm rot="5400000">
              <a:off x="9209536" y="3537945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65" name="Circle: Hollow 46">
              <a:extLst>
                <a:ext uri="{FF2B5EF4-FFF2-40B4-BE49-F238E27FC236}">
                  <a16:creationId xmlns:a16="http://schemas.microsoft.com/office/drawing/2014/main" id="{D85AF2F7-A0C2-38B6-B979-D8B9AAE459DE}"/>
                </a:ext>
              </a:extLst>
            </p:cNvPr>
            <p:cNvSpPr/>
            <p:nvPr/>
          </p:nvSpPr>
          <p:spPr>
            <a:xfrm>
              <a:off x="9454804" y="3783213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6C3B35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72" name="Circle: Hollow 47">
              <a:extLst>
                <a:ext uri="{FF2B5EF4-FFF2-40B4-BE49-F238E27FC236}">
                  <a16:creationId xmlns:a16="http://schemas.microsoft.com/office/drawing/2014/main" id="{3F87C2BF-1C9E-ABE7-6FCF-AD14C37E22E2}"/>
                </a:ext>
              </a:extLst>
            </p:cNvPr>
            <p:cNvSpPr/>
            <p:nvPr/>
          </p:nvSpPr>
          <p:spPr>
            <a:xfrm>
              <a:off x="9321932" y="3650341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FBC1FAF-E33D-FD37-AA12-5EA3A38EE0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9118" y="2616954"/>
              <a:ext cx="0" cy="1033387"/>
            </a:xfrm>
            <a:prstGeom prst="line">
              <a:avLst/>
            </a:prstGeom>
            <a:ln w="19050">
              <a:solidFill>
                <a:srgbClr val="6C3B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BFB6412-E1FA-246D-42FE-93F2D8B0075C}"/>
                </a:ext>
              </a:extLst>
            </p:cNvPr>
            <p:cNvSpPr/>
            <p:nvPr/>
          </p:nvSpPr>
          <p:spPr>
            <a:xfrm>
              <a:off x="9606997" y="2570598"/>
              <a:ext cx="124240" cy="124240"/>
            </a:xfrm>
            <a:prstGeom prst="ellipse">
              <a:avLst/>
            </a:prstGeom>
            <a:solidFill>
              <a:srgbClr val="6C3B35"/>
            </a:solidFill>
            <a:ln>
              <a:solidFill>
                <a:srgbClr val="6C3B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37748460-747A-8955-9B60-1EF0ADADFDBF}"/>
              </a:ext>
            </a:extLst>
          </p:cNvPr>
          <p:cNvSpPr txBox="1"/>
          <p:nvPr/>
        </p:nvSpPr>
        <p:spPr>
          <a:xfrm>
            <a:off x="5012676" y="6497166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6C3B35"/>
                </a:solidFill>
                <a:latin typeface="Century Gothic" panose="020B0502020202020204" pitchFamily="34" charset="0"/>
              </a:rPr>
              <a:t>2022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7E36473-4203-E87B-6E17-AD35EC8CCFE4}"/>
              </a:ext>
            </a:extLst>
          </p:cNvPr>
          <p:cNvSpPr txBox="1"/>
          <p:nvPr/>
        </p:nvSpPr>
        <p:spPr>
          <a:xfrm>
            <a:off x="4857443" y="5079713"/>
            <a:ext cx="126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</a:t>
            </a:r>
            <a:r>
              <a:rPr lang="en-US" sz="900" baseline="30000" dirty="0"/>
              <a:t>nd</a:t>
            </a:r>
            <a:r>
              <a:rPr lang="en-US" sz="900" dirty="0"/>
              <a:t> rabies outbreak in El Pedregal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CC1AD00-2AF4-80F5-32BB-9AE8F468DDC4}"/>
              </a:ext>
            </a:extLst>
          </p:cNvPr>
          <p:cNvCxnSpPr>
            <a:cxnSpLocks/>
          </p:cNvCxnSpPr>
          <p:nvPr/>
        </p:nvCxnSpPr>
        <p:spPr>
          <a:xfrm>
            <a:off x="4919499" y="5028641"/>
            <a:ext cx="997839" cy="0"/>
          </a:xfrm>
          <a:prstGeom prst="line">
            <a:avLst/>
          </a:prstGeom>
          <a:ln w="19050">
            <a:solidFill>
              <a:srgbClr val="1C7C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F8DFD489-2D74-3D90-D761-4317ED3CEEF5}"/>
              </a:ext>
            </a:extLst>
          </p:cNvPr>
          <p:cNvSpPr txBox="1"/>
          <p:nvPr/>
        </p:nvSpPr>
        <p:spPr>
          <a:xfrm>
            <a:off x="5788347" y="7170133"/>
            <a:ext cx="10622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Rabies persistence in Arequipa City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B5DEF2B-F61E-388C-454E-622BFACAD278}"/>
              </a:ext>
            </a:extLst>
          </p:cNvPr>
          <p:cNvSpPr txBox="1"/>
          <p:nvPr/>
        </p:nvSpPr>
        <p:spPr>
          <a:xfrm>
            <a:off x="431933" y="4468980"/>
            <a:ext cx="1939460" cy="40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b="1" dirty="0"/>
              <a:t>16 years of epidemiological silence in Arequipa City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BA444E3-00DA-258B-CE35-90ED06D2D6E3}"/>
              </a:ext>
            </a:extLst>
          </p:cNvPr>
          <p:cNvSpPr txBox="1"/>
          <p:nvPr/>
        </p:nvSpPr>
        <p:spPr>
          <a:xfrm>
            <a:off x="3924121" y="4463591"/>
            <a:ext cx="1939460" cy="40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b="1" dirty="0"/>
              <a:t>Rabies re-emergence and persistence</a:t>
            </a:r>
          </a:p>
        </p:txBody>
      </p:sp>
    </p:spTree>
    <p:extLst>
      <p:ext uri="{BB962C8B-B14F-4D97-AF65-F5344CB8AC3E}">
        <p14:creationId xmlns:p14="http://schemas.microsoft.com/office/powerpoint/2010/main" val="146543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2936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2785</TotalTime>
  <Words>455</Words>
  <Application>Microsoft Macintosh PowerPoint</Application>
  <PresentationFormat>Widescreen</PresentationFormat>
  <Paragraphs>105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Century Gothic</vt:lpstr>
      <vt:lpstr>Office Theme</vt:lpstr>
      <vt:lpstr>Sensitivity analyses</vt:lpstr>
      <vt:lpstr>PowerPoint Presentation</vt:lpstr>
      <vt:lpstr>PowerPoint Presentation</vt:lpstr>
      <vt:lpstr>PowerPoint Presentation</vt:lpstr>
      <vt:lpstr>Removing BF&lt;50</vt:lpstr>
      <vt:lpstr>Overall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Kirstyn Brunker</dc:creator>
  <cp:lastModifiedBy>Kirstyn Brunker</cp:lastModifiedBy>
  <cp:revision>4</cp:revision>
  <dcterms:created xsi:type="dcterms:W3CDTF">2026-04-30T12:11:09Z</dcterms:created>
  <dcterms:modified xsi:type="dcterms:W3CDTF">2026-05-02T10:36:51Z</dcterms:modified>
</cp:coreProperties>
</file>